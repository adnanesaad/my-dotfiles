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145" dt="2026-10-03T21:13:17.6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Les </a:t>
            </a:r>
            <a:r>
              <a:rPr lang="en-US" dirty="0" err="1">
                <a:solidFill>
                  <a:schemeClr val="bg1"/>
                </a:solidFill>
              </a:rPr>
              <a:t>poumons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Les </a:t>
            </a:r>
            <a:r>
              <a:rPr lang="en-US" b="1" dirty="0" err="1">
                <a:solidFill>
                  <a:schemeClr val="bg1"/>
                </a:solidFill>
                <a:ea typeface="+mn-lt"/>
                <a:cs typeface="+mn-lt"/>
              </a:rPr>
              <a:t>poumons</a:t>
            </a: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bg1"/>
                </a:solidFill>
                <a:ea typeface="+mn-lt"/>
                <a:cs typeface="+mn-lt"/>
              </a:rPr>
              <a:t>sont</a:t>
            </a: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 les </a:t>
            </a:r>
            <a:r>
              <a:rPr lang="en-US" dirty="0" err="1">
                <a:solidFill>
                  <a:schemeClr val="bg1"/>
                </a:solidFill>
                <a:ea typeface="+mn-lt"/>
                <a:cs typeface="+mn-lt"/>
              </a:rPr>
              <a:t>organes</a:t>
            </a: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bg1"/>
                </a:solidFill>
                <a:ea typeface="+mn-lt"/>
                <a:cs typeface="+mn-lt"/>
              </a:rPr>
              <a:t>principaux</a:t>
            </a: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 de </a:t>
            </a:r>
            <a:r>
              <a:rPr lang="en-US" dirty="0" err="1">
                <a:solidFill>
                  <a:schemeClr val="bg1"/>
                </a:solidFill>
                <a:ea typeface="+mn-lt"/>
                <a:cs typeface="+mn-lt"/>
              </a:rPr>
              <a:t>l'appareil</a:t>
            </a: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bg1"/>
                </a:solidFill>
                <a:ea typeface="+mn-lt"/>
                <a:cs typeface="+mn-lt"/>
              </a:rPr>
              <a:t>respiratoire</a:t>
            </a: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 chez </a:t>
            </a:r>
            <a:r>
              <a:rPr lang="en-US" dirty="0" err="1">
                <a:solidFill>
                  <a:schemeClr val="bg1"/>
                </a:solidFill>
                <a:ea typeface="+mn-lt"/>
                <a:cs typeface="+mn-lt"/>
              </a:rPr>
              <a:t>l'être</a:t>
            </a: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bg1"/>
                </a:solidFill>
                <a:ea typeface="+mn-lt"/>
                <a:cs typeface="+mn-lt"/>
              </a:rPr>
              <a:t>humain</a:t>
            </a: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 et de </a:t>
            </a:r>
            <a:r>
              <a:rPr lang="en-US" dirty="0" err="1">
                <a:solidFill>
                  <a:schemeClr val="bg1"/>
                </a:solidFill>
                <a:ea typeface="+mn-lt"/>
                <a:cs typeface="+mn-lt"/>
              </a:rPr>
              <a:t>nombreux</a:t>
            </a: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bg1"/>
                </a:solidFill>
                <a:ea typeface="+mn-lt"/>
                <a:cs typeface="+mn-lt"/>
              </a:rPr>
              <a:t>animaux</a:t>
            </a: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. </a:t>
            </a:r>
            <a:r>
              <a:rPr lang="en-US" dirty="0" err="1">
                <a:solidFill>
                  <a:schemeClr val="bg1"/>
                </a:solidFill>
                <a:ea typeface="+mn-lt"/>
                <a:cs typeface="+mn-lt"/>
              </a:rPr>
              <a:t>Situés</a:t>
            </a: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 dans la cage </a:t>
            </a:r>
            <a:r>
              <a:rPr lang="en-US" dirty="0" err="1">
                <a:solidFill>
                  <a:schemeClr val="bg1"/>
                </a:solidFill>
                <a:ea typeface="+mn-lt"/>
                <a:cs typeface="+mn-lt"/>
              </a:rPr>
              <a:t>thoracique</a:t>
            </a: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, de </a:t>
            </a:r>
            <a:r>
              <a:rPr lang="en-US" dirty="0" err="1">
                <a:solidFill>
                  <a:schemeClr val="bg1"/>
                </a:solidFill>
                <a:ea typeface="+mn-lt"/>
                <a:cs typeface="+mn-lt"/>
              </a:rPr>
              <a:t>chaque</a:t>
            </a: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bg1"/>
                </a:solidFill>
                <a:ea typeface="+mn-lt"/>
                <a:cs typeface="+mn-lt"/>
              </a:rPr>
              <a:t>côté</a:t>
            </a: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 du </a:t>
            </a:r>
            <a:r>
              <a:rPr lang="en-US" dirty="0" err="1">
                <a:solidFill>
                  <a:schemeClr val="bg1"/>
                </a:solidFill>
                <a:ea typeface="+mn-lt"/>
                <a:cs typeface="+mn-lt"/>
              </a:rPr>
              <a:t>cœur</a:t>
            </a: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, </a:t>
            </a:r>
            <a:r>
              <a:rPr lang="en-US" dirty="0" err="1">
                <a:solidFill>
                  <a:schemeClr val="bg1"/>
                </a:solidFill>
                <a:ea typeface="+mn-lt"/>
                <a:cs typeface="+mn-lt"/>
              </a:rPr>
              <a:t>ils</a:t>
            </a: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bg1"/>
                </a:solidFill>
                <a:ea typeface="+mn-lt"/>
                <a:cs typeface="+mn-lt"/>
              </a:rPr>
              <a:t>sont</a:t>
            </a: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dirty="0" err="1">
                <a:solidFill>
                  <a:schemeClr val="bg1"/>
                </a:solidFill>
                <a:ea typeface="+mn-lt"/>
                <a:cs typeface="+mn-lt"/>
              </a:rPr>
              <a:t>spongieux</a:t>
            </a: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 et rose-</a:t>
            </a:r>
            <a:r>
              <a:rPr lang="en-US" dirty="0" err="1">
                <a:solidFill>
                  <a:schemeClr val="bg1"/>
                </a:solidFill>
                <a:ea typeface="+mn-lt"/>
                <a:cs typeface="+mn-lt"/>
              </a:rPr>
              <a:t>grisâtre</a:t>
            </a: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.</a:t>
            </a:r>
            <a:endParaRPr lang="en-US">
              <a:solidFill>
                <a:schemeClr val="bg1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8B9E55-5CFD-C787-337D-EE77B21F5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/>
              <a:t>Rôle Principal Des Poumons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F6351F-84F6-C9CC-E20A-9CF3063AF9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>
              <a:buNone/>
            </a:pPr>
            <a:r>
              <a:rPr lang="en-US" sz="1600" dirty="0">
                <a:latin typeface="Google Sans Text"/>
                <a:ea typeface="Google Sans Text"/>
                <a:cs typeface="Google Sans Text"/>
              </a:rPr>
              <a:t>Leur </a:t>
            </a:r>
            <a:r>
              <a:rPr lang="en-US" sz="1600" dirty="0" err="1">
                <a:latin typeface="Google Sans Text"/>
                <a:ea typeface="Google Sans Text"/>
                <a:cs typeface="Google Sans Text"/>
              </a:rPr>
              <a:t>fonction</a:t>
            </a:r>
            <a:r>
              <a:rPr lang="en-US" sz="1600" dirty="0">
                <a:latin typeface="Google Sans Text"/>
                <a:ea typeface="Google Sans Text"/>
                <a:cs typeface="Google Sans Text"/>
              </a:rPr>
              <a:t> </a:t>
            </a:r>
            <a:r>
              <a:rPr lang="en-US" sz="1600" dirty="0" err="1">
                <a:latin typeface="Google Sans Text"/>
                <a:ea typeface="Google Sans Text"/>
                <a:cs typeface="Google Sans Text"/>
              </a:rPr>
              <a:t>essentielle</a:t>
            </a:r>
            <a:r>
              <a:rPr lang="en-US" sz="1600" dirty="0">
                <a:latin typeface="Google Sans Text"/>
                <a:ea typeface="Google Sans Text"/>
                <a:cs typeface="Google Sans Text"/>
              </a:rPr>
              <a:t> est </a:t>
            </a:r>
            <a:r>
              <a:rPr lang="en-US" sz="1600" dirty="0" err="1">
                <a:latin typeface="Google Sans Text"/>
                <a:ea typeface="Google Sans Text"/>
                <a:cs typeface="Google Sans Text"/>
              </a:rPr>
              <a:t>d'assurer</a:t>
            </a:r>
            <a:r>
              <a:rPr lang="en-US" sz="1600" dirty="0">
                <a:latin typeface="Google Sans Text"/>
                <a:ea typeface="Google Sans Text"/>
                <a:cs typeface="Google Sans Text"/>
              </a:rPr>
              <a:t> les </a:t>
            </a:r>
            <a:r>
              <a:rPr lang="en-US" sz="1600" b="1" dirty="0" err="1">
                <a:latin typeface="Google Sans Text"/>
                <a:ea typeface="Google Sans Text"/>
                <a:cs typeface="Google Sans Text"/>
              </a:rPr>
              <a:t>échanges</a:t>
            </a:r>
            <a:r>
              <a:rPr lang="en-US" sz="1600" b="1" dirty="0">
                <a:latin typeface="Google Sans Text"/>
                <a:ea typeface="Google Sans Text"/>
                <a:cs typeface="Google Sans Text"/>
              </a:rPr>
              <a:t> </a:t>
            </a:r>
            <a:r>
              <a:rPr lang="en-US" sz="1600" b="1" dirty="0" err="1">
                <a:latin typeface="Google Sans Text"/>
                <a:ea typeface="Google Sans Text"/>
                <a:cs typeface="Google Sans Text"/>
              </a:rPr>
              <a:t>gazeux</a:t>
            </a:r>
            <a:r>
              <a:rPr lang="en-US" sz="1600" dirty="0">
                <a:latin typeface="Google Sans Text"/>
                <a:ea typeface="Google Sans Text"/>
                <a:cs typeface="Google Sans Text"/>
              </a:rPr>
              <a:t> indispensables à la vie :</a:t>
            </a:r>
            <a:endParaRPr lang="en-US" sz="1600"/>
          </a:p>
          <a:p>
            <a:pPr marL="228600" indent="-228600">
              <a:buFont typeface="Arial"/>
              <a:buChar char="•"/>
            </a:pPr>
            <a:r>
              <a:rPr lang="en-US" sz="1600" b="1" dirty="0">
                <a:latin typeface="Google Sans Text"/>
                <a:ea typeface="Google Sans Text"/>
                <a:cs typeface="Google Sans Text"/>
              </a:rPr>
              <a:t>Apport </a:t>
            </a:r>
            <a:r>
              <a:rPr lang="en-US" sz="1600" b="1" dirty="0" err="1">
                <a:latin typeface="Google Sans Text"/>
                <a:ea typeface="Google Sans Text"/>
                <a:cs typeface="Google Sans Text"/>
              </a:rPr>
              <a:t>d'oxygène</a:t>
            </a:r>
            <a:r>
              <a:rPr lang="en-US" sz="1600" b="1" dirty="0">
                <a:latin typeface="Google Sans Text"/>
                <a:ea typeface="Google Sans Text"/>
                <a:cs typeface="Google Sans Text"/>
              </a:rPr>
              <a:t> (O2) :</a:t>
            </a:r>
            <a:r>
              <a:rPr lang="en-US" sz="1600" dirty="0">
                <a:latin typeface="Google Sans Text"/>
                <a:ea typeface="Google Sans Text"/>
                <a:cs typeface="Google Sans Text"/>
              </a:rPr>
              <a:t> Absorption de </a:t>
            </a:r>
            <a:r>
              <a:rPr lang="en-US" sz="1600" dirty="0" err="1">
                <a:latin typeface="Google Sans Text"/>
                <a:ea typeface="Google Sans Text"/>
                <a:cs typeface="Google Sans Text"/>
              </a:rPr>
              <a:t>l'oxygène</a:t>
            </a:r>
            <a:r>
              <a:rPr lang="en-US" sz="1600" dirty="0">
                <a:latin typeface="Google Sans Text"/>
                <a:ea typeface="Google Sans Text"/>
                <a:cs typeface="Google Sans Text"/>
              </a:rPr>
              <a:t> de l'air </a:t>
            </a:r>
            <a:r>
              <a:rPr lang="en-US" sz="1600" dirty="0" err="1">
                <a:latin typeface="Google Sans Text"/>
                <a:ea typeface="Google Sans Text"/>
                <a:cs typeface="Google Sans Text"/>
              </a:rPr>
              <a:t>inspiré</a:t>
            </a:r>
            <a:r>
              <a:rPr lang="en-US" sz="1600" dirty="0">
                <a:latin typeface="Google Sans Text"/>
                <a:ea typeface="Google Sans Text"/>
                <a:cs typeface="Google Sans Text"/>
              </a:rPr>
              <a:t> pour </a:t>
            </a:r>
            <a:r>
              <a:rPr lang="en-US" sz="1600" dirty="0" err="1">
                <a:latin typeface="Google Sans Text"/>
                <a:ea typeface="Google Sans Text"/>
                <a:cs typeface="Google Sans Text"/>
              </a:rPr>
              <a:t>approvisionner</a:t>
            </a:r>
            <a:r>
              <a:rPr lang="en-US" sz="1600" dirty="0">
                <a:latin typeface="Google Sans Text"/>
                <a:ea typeface="Google Sans Text"/>
                <a:cs typeface="Google Sans Text"/>
              </a:rPr>
              <a:t> le sang.</a:t>
            </a:r>
          </a:p>
          <a:p>
            <a:pPr marL="228600" indent="-228600">
              <a:buFont typeface="Arial"/>
              <a:buChar char="•"/>
            </a:pPr>
            <a:r>
              <a:rPr lang="en-US" sz="1600" b="1" dirty="0" err="1">
                <a:latin typeface="Google Sans Text"/>
                <a:ea typeface="Google Sans Text"/>
                <a:cs typeface="Google Sans Text"/>
              </a:rPr>
              <a:t>Élimination</a:t>
            </a:r>
            <a:r>
              <a:rPr lang="en-US" sz="1600" b="1" dirty="0">
                <a:latin typeface="Google Sans Text"/>
                <a:ea typeface="Google Sans Text"/>
                <a:cs typeface="Google Sans Text"/>
              </a:rPr>
              <a:t> du </a:t>
            </a:r>
            <a:r>
              <a:rPr lang="en-US" sz="1600" b="1" dirty="0" err="1">
                <a:latin typeface="Google Sans Text"/>
                <a:ea typeface="Google Sans Text"/>
                <a:cs typeface="Google Sans Text"/>
              </a:rPr>
              <a:t>dioxyde</a:t>
            </a:r>
            <a:r>
              <a:rPr lang="en-US" sz="1600" b="1" dirty="0">
                <a:latin typeface="Google Sans Text"/>
                <a:ea typeface="Google Sans Text"/>
                <a:cs typeface="Google Sans Text"/>
              </a:rPr>
              <a:t> de </a:t>
            </a:r>
            <a:r>
              <a:rPr lang="en-US" sz="1600" b="1" dirty="0" err="1">
                <a:latin typeface="Google Sans Text"/>
                <a:ea typeface="Google Sans Text"/>
                <a:cs typeface="Google Sans Text"/>
              </a:rPr>
              <a:t>carbone</a:t>
            </a:r>
            <a:r>
              <a:rPr lang="en-US" sz="1600" b="1" dirty="0">
                <a:latin typeface="Google Sans Text"/>
                <a:ea typeface="Google Sans Text"/>
                <a:cs typeface="Google Sans Text"/>
              </a:rPr>
              <a:t> (CO2) :</a:t>
            </a:r>
            <a:r>
              <a:rPr lang="en-US" sz="1600" dirty="0">
                <a:latin typeface="Google Sans Text"/>
                <a:ea typeface="Google Sans Text"/>
                <a:cs typeface="Google Sans Text"/>
              </a:rPr>
              <a:t> </a:t>
            </a:r>
            <a:r>
              <a:rPr lang="en-US" sz="1600" dirty="0" err="1">
                <a:latin typeface="Google Sans Text"/>
                <a:ea typeface="Google Sans Text"/>
                <a:cs typeface="Google Sans Text"/>
              </a:rPr>
              <a:t>Évacuation</a:t>
            </a:r>
            <a:r>
              <a:rPr lang="en-US" sz="1600" dirty="0">
                <a:latin typeface="Google Sans Text"/>
                <a:ea typeface="Google Sans Text"/>
                <a:cs typeface="Google Sans Text"/>
              </a:rPr>
              <a:t> du </a:t>
            </a:r>
            <a:r>
              <a:rPr lang="en-US" sz="1600" dirty="0" err="1">
                <a:latin typeface="Google Sans Text"/>
                <a:ea typeface="Google Sans Text"/>
                <a:cs typeface="Google Sans Text"/>
              </a:rPr>
              <a:t>déchet</a:t>
            </a:r>
            <a:r>
              <a:rPr lang="en-US" sz="1600" dirty="0">
                <a:latin typeface="Google Sans Text"/>
                <a:ea typeface="Google Sans Text"/>
                <a:cs typeface="Google Sans Text"/>
              </a:rPr>
              <a:t> </a:t>
            </a:r>
            <a:r>
              <a:rPr lang="en-US" sz="1600" dirty="0" err="1">
                <a:latin typeface="Google Sans Text"/>
                <a:ea typeface="Google Sans Text"/>
                <a:cs typeface="Google Sans Text"/>
              </a:rPr>
              <a:t>gazeux</a:t>
            </a:r>
            <a:r>
              <a:rPr lang="en-US" sz="1600" dirty="0">
                <a:latin typeface="Google Sans Text"/>
                <a:ea typeface="Google Sans Text"/>
                <a:cs typeface="Google Sans Text"/>
              </a:rPr>
              <a:t> </a:t>
            </a:r>
            <a:r>
              <a:rPr lang="en-US" sz="1600" dirty="0" err="1">
                <a:latin typeface="Google Sans Text"/>
                <a:ea typeface="Google Sans Text"/>
                <a:cs typeface="Google Sans Text"/>
              </a:rPr>
              <a:t>produit</a:t>
            </a:r>
            <a:r>
              <a:rPr lang="en-US" sz="1600" dirty="0">
                <a:latin typeface="Google Sans Text"/>
                <a:ea typeface="Google Sans Text"/>
                <a:cs typeface="Google Sans Text"/>
              </a:rPr>
              <a:t> par les cellules du corps </a:t>
            </a:r>
            <a:r>
              <a:rPr lang="en-US" sz="1600" dirty="0" err="1">
                <a:latin typeface="Google Sans Text"/>
                <a:ea typeface="Google Sans Text"/>
                <a:cs typeface="Google Sans Text"/>
              </a:rPr>
              <a:t>lors</a:t>
            </a:r>
            <a:r>
              <a:rPr lang="en-US" sz="1600" dirty="0">
                <a:latin typeface="Google Sans Text"/>
                <a:ea typeface="Google Sans Text"/>
                <a:cs typeface="Google Sans Text"/>
              </a:rPr>
              <a:t> de </a:t>
            </a:r>
            <a:r>
              <a:rPr lang="en-US" sz="1600" dirty="0" err="1">
                <a:latin typeface="Google Sans Text"/>
                <a:ea typeface="Google Sans Text"/>
                <a:cs typeface="Google Sans Text"/>
              </a:rPr>
              <a:t>l'expiration</a:t>
            </a:r>
            <a:r>
              <a:rPr lang="en-US" sz="1600" dirty="0">
                <a:latin typeface="Google Sans Text"/>
                <a:ea typeface="Google Sans Text"/>
                <a:cs typeface="Google Sans Text"/>
              </a:rPr>
              <a:t>.</a:t>
            </a:r>
          </a:p>
          <a:p>
            <a:pPr marL="0" indent="0">
              <a:buNone/>
            </a:pPr>
            <a:r>
              <a:rPr lang="en-US" sz="1600" b="1" dirty="0">
                <a:latin typeface="Google Sans"/>
                <a:ea typeface="Google Sans"/>
                <a:cs typeface="Google Sans"/>
              </a:rPr>
              <a:t>Structure et </a:t>
            </a:r>
            <a:r>
              <a:rPr lang="en-US" sz="1600" b="1" dirty="0" err="1">
                <a:latin typeface="Google Sans"/>
                <a:ea typeface="Google Sans"/>
                <a:cs typeface="Google Sans"/>
              </a:rPr>
              <a:t>fonctionnement</a:t>
            </a:r>
            <a:endParaRPr lang="en-US" sz="1600" b="1" dirty="0">
              <a:latin typeface="Google Sans"/>
              <a:ea typeface="Google Sans"/>
              <a:cs typeface="Google Sans"/>
            </a:endParaRPr>
          </a:p>
          <a:p>
            <a:pPr>
              <a:buFont typeface="Arial"/>
              <a:buChar char="•"/>
            </a:pPr>
            <a:r>
              <a:rPr lang="en-US" sz="1600" b="1" dirty="0">
                <a:latin typeface="Google Sans Text"/>
                <a:ea typeface="Google Sans Text"/>
                <a:cs typeface="Google Sans Text"/>
              </a:rPr>
              <a:t>Les </a:t>
            </a:r>
            <a:r>
              <a:rPr lang="en-US" sz="1600" b="1" dirty="0" err="1">
                <a:latin typeface="Google Sans Text"/>
                <a:ea typeface="Google Sans Text"/>
                <a:cs typeface="Google Sans Text"/>
              </a:rPr>
              <a:t>Organes</a:t>
            </a:r>
            <a:r>
              <a:rPr lang="en-US" sz="1600" b="1" dirty="0">
                <a:latin typeface="Google Sans Text"/>
                <a:ea typeface="Google Sans Text"/>
                <a:cs typeface="Google Sans Text"/>
              </a:rPr>
              <a:t> Des </a:t>
            </a:r>
            <a:r>
              <a:rPr lang="en-US" sz="1600" b="1" dirty="0" err="1">
                <a:latin typeface="Google Sans Text"/>
                <a:ea typeface="Google Sans Text"/>
                <a:cs typeface="Google Sans Text"/>
              </a:rPr>
              <a:t>Poumons</a:t>
            </a:r>
            <a:r>
              <a:rPr lang="en-US" sz="1600" b="1" dirty="0">
                <a:latin typeface="Google Sans Text"/>
                <a:ea typeface="Google Sans Text"/>
                <a:cs typeface="Google Sans Text"/>
              </a:rPr>
              <a:t>:</a:t>
            </a:r>
          </a:p>
          <a:p>
            <a:pPr marL="457200" indent="-457200"/>
            <a:r>
              <a:rPr lang="en-US" sz="1600" dirty="0">
                <a:latin typeface="Google Sans Text"/>
                <a:ea typeface="Google Sans Text"/>
                <a:cs typeface="Google Sans Text"/>
              </a:rPr>
              <a:t>L'air entre par la </a:t>
            </a:r>
            <a:r>
              <a:rPr lang="en-US" sz="1600" b="1" dirty="0" err="1">
                <a:latin typeface="Google Sans Text"/>
                <a:ea typeface="Google Sans Text"/>
                <a:cs typeface="Google Sans Text"/>
              </a:rPr>
              <a:t>trachée</a:t>
            </a:r>
            <a:r>
              <a:rPr lang="en-US" sz="1600" dirty="0">
                <a:latin typeface="Google Sans Text"/>
                <a:ea typeface="Google Sans Text"/>
                <a:cs typeface="Google Sans Text"/>
              </a:rPr>
              <a:t>, qui se </a:t>
            </a:r>
            <a:r>
              <a:rPr lang="en-US" sz="1600" dirty="0" err="1">
                <a:latin typeface="Google Sans Text"/>
                <a:ea typeface="Google Sans Text"/>
                <a:cs typeface="Google Sans Text"/>
              </a:rPr>
              <a:t>divise</a:t>
            </a:r>
            <a:r>
              <a:rPr lang="en-US" sz="1600" dirty="0">
                <a:latin typeface="Google Sans Text"/>
                <a:ea typeface="Google Sans Text"/>
                <a:cs typeface="Google Sans Text"/>
              </a:rPr>
              <a:t> </a:t>
            </a:r>
            <a:r>
              <a:rPr lang="en-US" sz="1600" dirty="0" err="1">
                <a:latin typeface="Google Sans Text"/>
                <a:ea typeface="Google Sans Text"/>
                <a:cs typeface="Google Sans Text"/>
              </a:rPr>
              <a:t>en</a:t>
            </a:r>
            <a:r>
              <a:rPr lang="en-US" sz="1600" dirty="0">
                <a:latin typeface="Google Sans Text"/>
                <a:ea typeface="Google Sans Text"/>
                <a:cs typeface="Google Sans Text"/>
              </a:rPr>
              <a:t> deux </a:t>
            </a:r>
            <a:r>
              <a:rPr lang="en-US" sz="1600" b="1" dirty="0" err="1">
                <a:latin typeface="Google Sans Text"/>
                <a:ea typeface="Google Sans Text"/>
                <a:cs typeface="Google Sans Text"/>
              </a:rPr>
              <a:t>bronches</a:t>
            </a:r>
            <a:r>
              <a:rPr lang="en-US" sz="1600" dirty="0">
                <a:latin typeface="Google Sans Text"/>
                <a:ea typeface="Google Sans Text"/>
                <a:cs typeface="Google Sans Text"/>
              </a:rPr>
              <a:t> (</a:t>
            </a:r>
            <a:r>
              <a:rPr lang="en-US" sz="1600" dirty="0" err="1">
                <a:latin typeface="Google Sans Text"/>
                <a:ea typeface="Google Sans Text"/>
                <a:cs typeface="Google Sans Text"/>
              </a:rPr>
              <a:t>une</a:t>
            </a:r>
            <a:r>
              <a:rPr lang="en-US" sz="1600" dirty="0">
                <a:latin typeface="Google Sans Text"/>
                <a:ea typeface="Google Sans Text"/>
                <a:cs typeface="Google Sans Text"/>
              </a:rPr>
              <a:t> pour </a:t>
            </a:r>
            <a:r>
              <a:rPr lang="en-US" sz="1600" dirty="0" err="1">
                <a:latin typeface="Google Sans Text"/>
                <a:ea typeface="Google Sans Text"/>
                <a:cs typeface="Google Sans Text"/>
              </a:rPr>
              <a:t>chaque</a:t>
            </a:r>
            <a:r>
              <a:rPr lang="en-US" sz="1600" dirty="0">
                <a:latin typeface="Google Sans Text"/>
                <a:ea typeface="Google Sans Text"/>
                <a:cs typeface="Google Sans Text"/>
              </a:rPr>
              <a:t> </a:t>
            </a:r>
            <a:r>
              <a:rPr lang="en-US" sz="1600" dirty="0" err="1">
                <a:latin typeface="Google Sans Text"/>
                <a:ea typeface="Google Sans Text"/>
                <a:cs typeface="Google Sans Text"/>
              </a:rPr>
              <a:t>poumon</a:t>
            </a:r>
            <a:r>
              <a:rPr lang="en-US" sz="1600" dirty="0">
                <a:latin typeface="Google Sans Text"/>
                <a:ea typeface="Google Sans Text"/>
                <a:cs typeface="Google Sans Text"/>
              </a:rPr>
              <a:t>), </a:t>
            </a:r>
            <a:r>
              <a:rPr lang="en-US" sz="1600" dirty="0" err="1">
                <a:latin typeface="Google Sans Text"/>
                <a:ea typeface="Google Sans Text"/>
                <a:cs typeface="Google Sans Text"/>
              </a:rPr>
              <a:t>puis</a:t>
            </a:r>
            <a:r>
              <a:rPr lang="en-US" sz="1600" dirty="0">
                <a:latin typeface="Google Sans Text"/>
                <a:ea typeface="Google Sans Text"/>
                <a:cs typeface="Google Sans Text"/>
              </a:rPr>
              <a:t> </a:t>
            </a:r>
            <a:r>
              <a:rPr lang="en-US" sz="1600" dirty="0" err="1">
                <a:latin typeface="Google Sans Text"/>
                <a:ea typeface="Google Sans Text"/>
                <a:cs typeface="Google Sans Text"/>
              </a:rPr>
              <a:t>en</a:t>
            </a:r>
            <a:r>
              <a:rPr lang="en-US" sz="1600" dirty="0">
                <a:latin typeface="Google Sans Text"/>
                <a:ea typeface="Google Sans Text"/>
                <a:cs typeface="Google Sans Text"/>
              </a:rPr>
              <a:t> </a:t>
            </a:r>
            <a:r>
              <a:rPr lang="en-US" sz="1600" b="1" dirty="0">
                <a:latin typeface="Google Sans Text"/>
                <a:ea typeface="Google Sans Text"/>
                <a:cs typeface="Google Sans Text"/>
              </a:rPr>
              <a:t>bronchioles</a:t>
            </a:r>
            <a:r>
              <a:rPr lang="en-US" sz="1600" dirty="0">
                <a:latin typeface="Google Sans Text"/>
                <a:ea typeface="Google Sans Text"/>
                <a:cs typeface="Google Sans Text"/>
              </a:rPr>
              <a:t> de plus </a:t>
            </a:r>
            <a:r>
              <a:rPr lang="en-US" sz="1600" dirty="0" err="1">
                <a:latin typeface="Google Sans Text"/>
                <a:ea typeface="Google Sans Text"/>
                <a:cs typeface="Google Sans Text"/>
              </a:rPr>
              <a:t>en</a:t>
            </a:r>
            <a:r>
              <a:rPr lang="en-US" sz="1600" dirty="0">
                <a:latin typeface="Google Sans Text"/>
                <a:ea typeface="Google Sans Text"/>
                <a:cs typeface="Google Sans Text"/>
              </a:rPr>
              <a:t> plus fines.</a:t>
            </a:r>
            <a:endParaRPr lang="en-US" sz="1600"/>
          </a:p>
          <a:p>
            <a:pPr marL="228600" indent="-228600">
              <a:buFont typeface="Arial"/>
              <a:buChar char="•"/>
            </a:pPr>
            <a:r>
              <a:rPr lang="en-US" sz="1600" b="1" dirty="0" err="1">
                <a:latin typeface="Google Sans Text"/>
                <a:ea typeface="Google Sans Text"/>
                <a:cs typeface="Google Sans Text"/>
              </a:rPr>
              <a:t>Alvéoles</a:t>
            </a:r>
            <a:r>
              <a:rPr lang="en-US" sz="1600" b="1" dirty="0">
                <a:latin typeface="Google Sans Text"/>
                <a:ea typeface="Google Sans Text"/>
                <a:cs typeface="Google Sans Text"/>
              </a:rPr>
              <a:t> </a:t>
            </a:r>
            <a:r>
              <a:rPr lang="en-US" sz="1600" b="1" dirty="0" err="1">
                <a:latin typeface="Google Sans Text"/>
                <a:ea typeface="Google Sans Text"/>
                <a:cs typeface="Google Sans Text"/>
              </a:rPr>
              <a:t>pulmonaires</a:t>
            </a:r>
            <a:r>
              <a:rPr lang="en-US" sz="1600" b="1" dirty="0">
                <a:latin typeface="Google Sans Text"/>
                <a:ea typeface="Google Sans Text"/>
                <a:cs typeface="Google Sans Text"/>
              </a:rPr>
              <a:t> :</a:t>
            </a:r>
            <a:r>
              <a:rPr lang="en-US" sz="1600" dirty="0">
                <a:latin typeface="Google Sans Text"/>
                <a:ea typeface="Google Sans Text"/>
                <a:cs typeface="Google Sans Text"/>
              </a:rPr>
              <a:t> Les bronchioles se </a:t>
            </a:r>
            <a:r>
              <a:rPr lang="en-US" sz="1600" dirty="0" err="1">
                <a:latin typeface="Google Sans Text"/>
                <a:ea typeface="Google Sans Text"/>
                <a:cs typeface="Google Sans Text"/>
              </a:rPr>
              <a:t>terminent</a:t>
            </a:r>
            <a:r>
              <a:rPr lang="en-US" sz="1600" dirty="0">
                <a:latin typeface="Google Sans Text"/>
                <a:ea typeface="Google Sans Text"/>
                <a:cs typeface="Google Sans Text"/>
              </a:rPr>
              <a:t> par de </a:t>
            </a:r>
            <a:r>
              <a:rPr lang="en-US" sz="1600" dirty="0" err="1">
                <a:latin typeface="Google Sans Text"/>
                <a:ea typeface="Google Sans Text"/>
                <a:cs typeface="Google Sans Text"/>
              </a:rPr>
              <a:t>microscopiques</a:t>
            </a:r>
            <a:r>
              <a:rPr lang="en-US" sz="1600" dirty="0">
                <a:latin typeface="Google Sans Text"/>
                <a:ea typeface="Google Sans Text"/>
                <a:cs typeface="Google Sans Text"/>
              </a:rPr>
              <a:t> sacs </a:t>
            </a:r>
            <a:r>
              <a:rPr lang="en-US" sz="1600" dirty="0" err="1">
                <a:latin typeface="Google Sans Text"/>
                <a:ea typeface="Google Sans Text"/>
                <a:cs typeface="Google Sans Text"/>
              </a:rPr>
              <a:t>appelés</a:t>
            </a:r>
            <a:r>
              <a:rPr lang="en-US" sz="1600" dirty="0">
                <a:latin typeface="Google Sans Text"/>
                <a:ea typeface="Google Sans Text"/>
                <a:cs typeface="Google Sans Text"/>
              </a:rPr>
              <a:t> </a:t>
            </a:r>
            <a:r>
              <a:rPr lang="en-US" sz="1600" b="1" dirty="0" err="1">
                <a:latin typeface="Google Sans Text"/>
                <a:ea typeface="Google Sans Text"/>
                <a:cs typeface="Google Sans Text"/>
              </a:rPr>
              <a:t>alvéoles</a:t>
            </a:r>
            <a:r>
              <a:rPr lang="en-US" sz="1600" dirty="0">
                <a:latin typeface="Google Sans Text"/>
                <a:ea typeface="Google Sans Text"/>
                <a:cs typeface="Google Sans Text"/>
              </a:rPr>
              <a:t>. </a:t>
            </a:r>
            <a:r>
              <a:rPr lang="en-US" sz="1600" dirty="0" err="1">
                <a:latin typeface="Google Sans Text"/>
                <a:ea typeface="Google Sans Text"/>
                <a:cs typeface="Google Sans Text"/>
              </a:rPr>
              <a:t>C'est</a:t>
            </a:r>
            <a:r>
              <a:rPr lang="en-US" sz="1600" dirty="0">
                <a:latin typeface="Google Sans Text"/>
                <a:ea typeface="Google Sans Text"/>
                <a:cs typeface="Google Sans Text"/>
              </a:rPr>
              <a:t> à </a:t>
            </a:r>
            <a:r>
              <a:rPr lang="en-US" sz="1600" dirty="0" err="1">
                <a:latin typeface="Google Sans Text"/>
                <a:ea typeface="Google Sans Text"/>
                <a:cs typeface="Google Sans Text"/>
              </a:rPr>
              <a:t>ce</a:t>
            </a:r>
            <a:r>
              <a:rPr lang="en-US" sz="1600" dirty="0">
                <a:latin typeface="Google Sans Text"/>
                <a:ea typeface="Google Sans Text"/>
                <a:cs typeface="Google Sans Text"/>
              </a:rPr>
              <a:t> </a:t>
            </a:r>
            <a:r>
              <a:rPr lang="en-US" sz="1600" dirty="0" err="1">
                <a:latin typeface="Google Sans Text"/>
                <a:ea typeface="Google Sans Text"/>
                <a:cs typeface="Google Sans Text"/>
              </a:rPr>
              <a:t>niveau</a:t>
            </a:r>
            <a:r>
              <a:rPr lang="en-US" sz="1600" dirty="0">
                <a:latin typeface="Google Sans Text"/>
                <a:ea typeface="Google Sans Text"/>
                <a:cs typeface="Google Sans Text"/>
              </a:rPr>
              <a:t> </a:t>
            </a:r>
            <a:r>
              <a:rPr lang="en-US" sz="1600" dirty="0" err="1">
                <a:latin typeface="Google Sans Text"/>
                <a:ea typeface="Google Sans Text"/>
                <a:cs typeface="Google Sans Text"/>
              </a:rPr>
              <a:t>que</a:t>
            </a:r>
            <a:r>
              <a:rPr lang="en-US" sz="1600" dirty="0">
                <a:latin typeface="Google Sans Text"/>
                <a:ea typeface="Google Sans Text"/>
                <a:cs typeface="Google Sans Text"/>
              </a:rPr>
              <a:t> le </a:t>
            </a:r>
            <a:r>
              <a:rPr lang="en-US" sz="1600" dirty="0" err="1">
                <a:latin typeface="Google Sans Text"/>
                <a:ea typeface="Google Sans Text"/>
                <a:cs typeface="Google Sans Text"/>
              </a:rPr>
              <a:t>gaz</a:t>
            </a:r>
            <a:r>
              <a:rPr lang="en-US" sz="1600" dirty="0">
                <a:latin typeface="Google Sans Text"/>
                <a:ea typeface="Google Sans Text"/>
                <a:cs typeface="Google Sans Text"/>
              </a:rPr>
              <a:t> traverse </a:t>
            </a:r>
            <a:r>
              <a:rPr lang="en-US" sz="1600" dirty="0" err="1">
                <a:latin typeface="Google Sans Text"/>
                <a:ea typeface="Google Sans Text"/>
                <a:cs typeface="Google Sans Text"/>
              </a:rPr>
              <a:t>une</a:t>
            </a:r>
            <a:r>
              <a:rPr lang="en-US" sz="1600" dirty="0">
                <a:latin typeface="Google Sans Text"/>
                <a:ea typeface="Google Sans Text"/>
                <a:cs typeface="Google Sans Text"/>
              </a:rPr>
              <a:t> fine </a:t>
            </a:r>
            <a:r>
              <a:rPr lang="en-US" sz="1600" dirty="0" err="1">
                <a:latin typeface="Google Sans Text"/>
                <a:ea typeface="Google Sans Text"/>
                <a:cs typeface="Google Sans Text"/>
              </a:rPr>
              <a:t>paroi</a:t>
            </a:r>
            <a:r>
              <a:rPr lang="en-US" sz="1600" dirty="0">
                <a:latin typeface="Google Sans Text"/>
                <a:ea typeface="Google Sans Text"/>
                <a:cs typeface="Google Sans Text"/>
              </a:rPr>
              <a:t> pour passer dans les </a:t>
            </a:r>
            <a:r>
              <a:rPr lang="en-US" sz="1600" dirty="0" err="1">
                <a:latin typeface="Google Sans Text"/>
                <a:ea typeface="Google Sans Text"/>
                <a:cs typeface="Google Sans Text"/>
              </a:rPr>
              <a:t>vaisseaux</a:t>
            </a:r>
            <a:r>
              <a:rPr lang="en-US" sz="1600" dirty="0">
                <a:latin typeface="Google Sans Text"/>
                <a:ea typeface="Google Sans Text"/>
                <a:cs typeface="Google Sans Text"/>
              </a:rPr>
              <a:t> </a:t>
            </a:r>
            <a:r>
              <a:rPr lang="en-US" sz="1600" dirty="0" err="1">
                <a:latin typeface="Google Sans Text"/>
                <a:ea typeface="Google Sans Text"/>
                <a:cs typeface="Google Sans Text"/>
              </a:rPr>
              <a:t>sanguins</a:t>
            </a:r>
            <a:r>
              <a:rPr lang="en-US" sz="1600" dirty="0">
                <a:latin typeface="Google Sans Text"/>
                <a:ea typeface="Google Sans Text"/>
                <a:cs typeface="Google Sans Text"/>
              </a:rPr>
              <a:t>.</a:t>
            </a:r>
          </a:p>
          <a:p>
            <a:pPr marL="228600" indent="-228600">
              <a:buFont typeface="Arial"/>
              <a:buChar char="•"/>
            </a:pPr>
            <a:r>
              <a:rPr lang="en-US" sz="1600" b="1" dirty="0">
                <a:latin typeface="Google Sans Text"/>
                <a:ea typeface="Google Sans Text"/>
                <a:cs typeface="Google Sans Text"/>
              </a:rPr>
              <a:t>Protection :</a:t>
            </a:r>
            <a:r>
              <a:rPr lang="en-US" sz="1600" dirty="0">
                <a:latin typeface="Google Sans Text"/>
                <a:ea typeface="Google Sans Text"/>
                <a:cs typeface="Google Sans Text"/>
              </a:rPr>
              <a:t> Les </a:t>
            </a:r>
            <a:r>
              <a:rPr lang="en-US" sz="1600" dirty="0" err="1">
                <a:latin typeface="Google Sans Text"/>
                <a:ea typeface="Google Sans Text"/>
                <a:cs typeface="Google Sans Text"/>
              </a:rPr>
              <a:t>poumons</a:t>
            </a:r>
            <a:r>
              <a:rPr lang="en-US" sz="1600" dirty="0">
                <a:latin typeface="Google Sans Text"/>
                <a:ea typeface="Google Sans Text"/>
                <a:cs typeface="Google Sans Text"/>
              </a:rPr>
              <a:t> </a:t>
            </a:r>
            <a:r>
              <a:rPr lang="en-US" sz="1600" dirty="0" err="1">
                <a:latin typeface="Google Sans Text"/>
                <a:ea typeface="Google Sans Text"/>
                <a:cs typeface="Google Sans Text"/>
              </a:rPr>
              <a:t>sont</a:t>
            </a:r>
            <a:r>
              <a:rPr lang="en-US" sz="1600" dirty="0">
                <a:latin typeface="Google Sans Text"/>
                <a:ea typeface="Google Sans Text"/>
                <a:cs typeface="Google Sans Text"/>
              </a:rPr>
              <a:t> </a:t>
            </a:r>
            <a:r>
              <a:rPr lang="en-US" sz="1600" dirty="0" err="1">
                <a:latin typeface="Google Sans Text"/>
                <a:ea typeface="Google Sans Text"/>
                <a:cs typeface="Google Sans Text"/>
              </a:rPr>
              <a:t>enveloppés</a:t>
            </a:r>
            <a:r>
              <a:rPr lang="en-US" sz="1600" dirty="0">
                <a:latin typeface="Google Sans Text"/>
                <a:ea typeface="Google Sans Text"/>
                <a:cs typeface="Google Sans Text"/>
              </a:rPr>
              <a:t> </a:t>
            </a:r>
            <a:r>
              <a:rPr lang="en-US" sz="1600" dirty="0" err="1">
                <a:latin typeface="Google Sans Text"/>
                <a:ea typeface="Google Sans Text"/>
                <a:cs typeface="Google Sans Text"/>
              </a:rPr>
              <a:t>d'une</a:t>
            </a:r>
            <a:r>
              <a:rPr lang="en-US" sz="1600" dirty="0">
                <a:latin typeface="Google Sans Text"/>
                <a:ea typeface="Google Sans Text"/>
                <a:cs typeface="Google Sans Text"/>
              </a:rPr>
              <a:t> double membrane </a:t>
            </a:r>
            <a:r>
              <a:rPr lang="en-US" sz="1600" dirty="0" err="1">
                <a:latin typeface="Google Sans Text"/>
                <a:ea typeface="Google Sans Text"/>
                <a:cs typeface="Google Sans Text"/>
              </a:rPr>
              <a:t>protectrice</a:t>
            </a:r>
            <a:r>
              <a:rPr lang="en-US" sz="1600" dirty="0">
                <a:latin typeface="Google Sans Text"/>
                <a:ea typeface="Google Sans Text"/>
                <a:cs typeface="Google Sans Text"/>
              </a:rPr>
              <a:t> </a:t>
            </a:r>
            <a:r>
              <a:rPr lang="en-US" sz="1600" dirty="0" err="1">
                <a:latin typeface="Google Sans Text"/>
                <a:ea typeface="Google Sans Text"/>
                <a:cs typeface="Google Sans Text"/>
              </a:rPr>
              <a:t>appelée</a:t>
            </a:r>
            <a:r>
              <a:rPr lang="en-US" sz="1600" dirty="0">
                <a:latin typeface="Google Sans Text"/>
                <a:ea typeface="Google Sans Text"/>
                <a:cs typeface="Google Sans Text"/>
              </a:rPr>
              <a:t> la </a:t>
            </a:r>
            <a:r>
              <a:rPr lang="en-US" sz="1600" b="1" dirty="0" err="1">
                <a:latin typeface="Google Sans Text"/>
                <a:ea typeface="Google Sans Text"/>
                <a:cs typeface="Google Sans Text"/>
              </a:rPr>
              <a:t>plèvre</a:t>
            </a:r>
            <a:r>
              <a:rPr lang="en-US" sz="1600" dirty="0">
                <a:latin typeface="Google Sans Text"/>
                <a:ea typeface="Google Sans Text"/>
                <a:cs typeface="Google Sans Text"/>
              </a:rPr>
              <a:t>.</a:t>
            </a:r>
            <a:endParaRPr lang="en-US" sz="16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84921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t="-19000" b="-1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68F776-A5CC-9389-1585-78567303BB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719705"/>
            <a:ext cx="10515600" cy="345725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66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Merci Pour </a:t>
            </a:r>
            <a:r>
              <a:rPr lang="en-US" sz="6600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Votre</a:t>
            </a:r>
            <a:r>
              <a:rPr lang="en-US" sz="66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 Attention !</a:t>
            </a:r>
          </a:p>
        </p:txBody>
      </p:sp>
    </p:spTree>
    <p:extLst>
      <p:ext uri="{BB962C8B-B14F-4D97-AF65-F5344CB8AC3E}">
        <p14:creationId xmlns:p14="http://schemas.microsoft.com/office/powerpoint/2010/main" val="28927036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Les poumons</vt:lpstr>
      <vt:lpstr>Rôle Principal Des Poumons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 </cp:lastModifiedBy>
  <cp:revision>58</cp:revision>
  <dcterms:created xsi:type="dcterms:W3CDTF">2013-07-15T20:26:40Z</dcterms:created>
  <dcterms:modified xsi:type="dcterms:W3CDTF">2026-10-03T21:13:27Z</dcterms:modified>
</cp:coreProperties>
</file>