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4" r:id="rId1"/>
  </p:sldMasterIdLst>
  <p:sldIdLst>
    <p:sldId id="256" r:id="rId2"/>
    <p:sldId id="266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1AF63-C17E-478D-A36F-36F6272B9B65}" v="13" dt="2026-09-29T22:14:44.199"/>
    <p1510:client id="{2A7E153B-3A6E-43B5-BC7F-EBD9846C57FA}" v="8" dt="2026-09-29T22:11:19.710"/>
    <p1510:client id="{7B0CA82B-EFC8-4E65-AD2F-BDC7FC1ABA2A}" v="4" dt="2026-09-29T22:16:21.726"/>
    <p1510:client id="{BBBE6C88-B193-480B-A088-D835F21BF8A6}" v="1368" dt="2026-09-29T22:09:47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2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1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9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544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84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048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56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69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871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78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960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9568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29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625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209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23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915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65" r:id="rId1"/>
    <p:sldLayoutId id="2147484266" r:id="rId2"/>
    <p:sldLayoutId id="2147484267" r:id="rId3"/>
    <p:sldLayoutId id="2147484268" r:id="rId4"/>
    <p:sldLayoutId id="2147484269" r:id="rId5"/>
    <p:sldLayoutId id="2147484270" r:id="rId6"/>
    <p:sldLayoutId id="2147484271" r:id="rId7"/>
    <p:sldLayoutId id="2147484272" r:id="rId8"/>
    <p:sldLayoutId id="2147484273" r:id="rId9"/>
    <p:sldLayoutId id="2147484274" r:id="rId10"/>
    <p:sldLayoutId id="2147484275" r:id="rId11"/>
    <p:sldLayoutId id="2147484276" r:id="rId12"/>
    <p:sldLayoutId id="2147484277" r:id="rId13"/>
    <p:sldLayoutId id="2147484278" r:id="rId14"/>
    <p:sldLayoutId id="2147484279" r:id="rId15"/>
    <p:sldLayoutId id="2147484280" r:id="rId16"/>
    <p:sldLayoutId id="214748428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xofe14.scenari-community.org/Publications/Seconde/Atome_VersionLongue/co/Historique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ltamiz.com/elcedazo/2016/09/24/de-thomson-a-bohr-historia-de-un-atomo-1-modelo-atomico-de-thomson-1-el-modelo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endan.org/khoa-hoc-ky-thuat/sur-la-matiere-i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efrontseat.weebly.com/states-of-matter-8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Les atomes et les 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Une Des </a:t>
            </a:r>
            <a:r>
              <a:rPr lang="en-US" dirty="0" err="1">
                <a:solidFill>
                  <a:schemeClr val="tx1"/>
                </a:solidFill>
              </a:rPr>
              <a:t>leçons</a:t>
            </a:r>
            <a:r>
              <a:rPr lang="en-US" dirty="0">
                <a:solidFill>
                  <a:schemeClr val="tx1"/>
                </a:solidFill>
              </a:rPr>
              <a:t> LES plus </a:t>
            </a:r>
            <a:r>
              <a:rPr lang="en-US" dirty="0" err="1">
                <a:solidFill>
                  <a:schemeClr val="tx1"/>
                </a:solidFill>
              </a:rPr>
              <a:t>intéréssantes</a:t>
            </a:r>
            <a:r>
              <a:rPr lang="en-US" dirty="0">
                <a:solidFill>
                  <a:schemeClr val="tx1"/>
                </a:solidFill>
              </a:rPr>
              <a:t> pour moi dans la matière Physique Chimie !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63F78-7BD1-A21E-A74F-F6F050196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pPr marL="342900" indent="-342900">
              <a:spcBef>
                <a:spcPts val="1000"/>
              </a:spcBef>
            </a:pPr>
            <a:r>
              <a:rPr lang="en-US">
                <a:solidFill>
                  <a:srgbClr val="FFFFFF"/>
                </a:solidFill>
              </a:rPr>
              <a:t>1. L'intuition philosophique (Antiquité)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FEB5-54B9-8BC6-1A74-7F129C969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b="1" dirty="0">
                <a:ea typeface="+mj-lt"/>
                <a:cs typeface="+mj-lt"/>
              </a:rPr>
              <a:t>Démocrite (Vᵉ siècle av. J.-C.)</a:t>
            </a:r>
            <a:r>
              <a:rPr lang="en-US" dirty="0">
                <a:ea typeface="+mj-lt"/>
                <a:cs typeface="+mj-lt"/>
              </a:rPr>
              <a:t> : Le philosophe </a:t>
            </a:r>
            <a:r>
              <a:rPr lang="en-US" dirty="0" err="1">
                <a:ea typeface="+mj-lt"/>
                <a:cs typeface="+mj-lt"/>
              </a:rPr>
              <a:t>grec</a:t>
            </a:r>
            <a:r>
              <a:rPr lang="en-US" dirty="0">
                <a:ea typeface="+mj-lt"/>
                <a:cs typeface="+mj-lt"/>
              </a:rPr>
              <a:t> propose pour la première </a:t>
            </a:r>
            <a:r>
              <a:rPr lang="en-US" dirty="0" err="1">
                <a:ea typeface="+mj-lt"/>
                <a:cs typeface="+mj-lt"/>
              </a:rPr>
              <a:t>fois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que</a:t>
            </a:r>
            <a:r>
              <a:rPr lang="en-US" dirty="0">
                <a:ea typeface="+mj-lt"/>
                <a:cs typeface="+mj-lt"/>
              </a:rPr>
              <a:t> la matière est </a:t>
            </a:r>
            <a:r>
              <a:rPr lang="en-US" dirty="0" err="1">
                <a:ea typeface="+mj-lt"/>
                <a:cs typeface="+mj-lt"/>
              </a:rPr>
              <a:t>constituée</a:t>
            </a:r>
            <a:r>
              <a:rPr lang="en-US" dirty="0">
                <a:ea typeface="+mj-lt"/>
                <a:cs typeface="+mj-lt"/>
              </a:rPr>
              <a:t> de minuscules </a:t>
            </a:r>
            <a:r>
              <a:rPr lang="en-US" dirty="0" err="1">
                <a:ea typeface="+mj-lt"/>
                <a:cs typeface="+mj-lt"/>
              </a:rPr>
              <a:t>particules</a:t>
            </a:r>
            <a:r>
              <a:rPr lang="en-US" dirty="0">
                <a:ea typeface="+mj-lt"/>
                <a:cs typeface="+mj-lt"/>
              </a:rPr>
              <a:t> invisibles, </a:t>
            </a:r>
            <a:r>
              <a:rPr lang="en-US" dirty="0" err="1">
                <a:ea typeface="+mj-lt"/>
                <a:cs typeface="+mj-lt"/>
              </a:rPr>
              <a:t>éternelles</a:t>
            </a:r>
            <a:r>
              <a:rPr lang="en-US" dirty="0">
                <a:ea typeface="+mj-lt"/>
                <a:cs typeface="+mj-lt"/>
              </a:rPr>
              <a:t> et </a:t>
            </a:r>
            <a:r>
              <a:rPr lang="en-US" dirty="0" err="1">
                <a:ea typeface="+mj-lt"/>
                <a:cs typeface="+mj-lt"/>
              </a:rPr>
              <a:t>incassables</a:t>
            </a:r>
            <a:r>
              <a:rPr lang="en-US" dirty="0">
                <a:ea typeface="+mj-lt"/>
                <a:cs typeface="+mj-lt"/>
              </a:rPr>
              <a:t>. Il les </a:t>
            </a:r>
            <a:r>
              <a:rPr lang="en-US" dirty="0" err="1">
                <a:ea typeface="+mj-lt"/>
                <a:cs typeface="+mj-lt"/>
              </a:rPr>
              <a:t>nomme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b="1" dirty="0">
                <a:ea typeface="+mj-lt"/>
                <a:cs typeface="+mj-lt"/>
              </a:rPr>
              <a:t>« </a:t>
            </a:r>
            <a:r>
              <a:rPr lang="en-US" b="1" dirty="0" err="1">
                <a:ea typeface="+mj-lt"/>
                <a:cs typeface="+mj-lt"/>
              </a:rPr>
              <a:t>atomos</a:t>
            </a:r>
            <a:r>
              <a:rPr lang="en-US" b="1" dirty="0">
                <a:ea typeface="+mj-lt"/>
                <a:cs typeface="+mj-lt"/>
              </a:rPr>
              <a:t> »</a:t>
            </a:r>
            <a:r>
              <a:rPr lang="en-US" dirty="0">
                <a:ea typeface="+mj-lt"/>
                <a:cs typeface="+mj-lt"/>
              </a:rPr>
              <a:t> (qui </a:t>
            </a:r>
            <a:r>
              <a:rPr lang="en-US" dirty="0" err="1">
                <a:ea typeface="+mj-lt"/>
                <a:cs typeface="+mj-lt"/>
              </a:rPr>
              <a:t>signifie</a:t>
            </a:r>
            <a:r>
              <a:rPr lang="en-US" dirty="0">
                <a:ea typeface="+mj-lt"/>
                <a:cs typeface="+mj-lt"/>
              </a:rPr>
              <a:t> « </a:t>
            </a:r>
            <a:r>
              <a:rPr lang="en-US" dirty="0" err="1">
                <a:ea typeface="+mj-lt"/>
                <a:cs typeface="+mj-lt"/>
              </a:rPr>
              <a:t>qu'on</a:t>
            </a:r>
            <a:r>
              <a:rPr lang="en-US" dirty="0">
                <a:ea typeface="+mj-lt"/>
                <a:cs typeface="+mj-lt"/>
              </a:rPr>
              <a:t> ne </a:t>
            </a:r>
            <a:r>
              <a:rPr lang="en-US" dirty="0" err="1">
                <a:ea typeface="+mj-lt"/>
                <a:cs typeface="+mj-lt"/>
              </a:rPr>
              <a:t>peut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couper</a:t>
            </a:r>
            <a:r>
              <a:rPr lang="en-US" dirty="0">
                <a:ea typeface="+mj-lt"/>
                <a:cs typeface="+mj-lt"/>
              </a:rPr>
              <a:t> » </a:t>
            </a:r>
            <a:r>
              <a:rPr lang="en-US" dirty="0" err="1">
                <a:ea typeface="+mj-lt"/>
                <a:cs typeface="+mj-lt"/>
              </a:rPr>
              <a:t>ou</a:t>
            </a:r>
            <a:r>
              <a:rPr lang="en-US" dirty="0">
                <a:ea typeface="+mj-lt"/>
                <a:cs typeface="+mj-lt"/>
              </a:rPr>
              <a:t> « indivisible »). </a:t>
            </a:r>
            <a:endParaRPr lang="en-US" dirty="0"/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dirty="0">
              <a:ea typeface="+mj-lt"/>
              <a:cs typeface="+mj-l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b="1" dirty="0">
                <a:ea typeface="+mj-lt"/>
                <a:cs typeface="+mj-lt"/>
              </a:rPr>
              <a:t>Aristote </a:t>
            </a:r>
            <a:r>
              <a:rPr lang="en-US" b="1" dirty="0" err="1">
                <a:ea typeface="+mj-lt"/>
                <a:cs typeface="+mj-lt"/>
              </a:rPr>
              <a:t>contre-attaque</a:t>
            </a:r>
            <a:r>
              <a:rPr lang="en-US" dirty="0">
                <a:ea typeface="+mj-lt"/>
                <a:cs typeface="+mj-lt"/>
              </a:rPr>
              <a:t> : Aristote </a:t>
            </a:r>
            <a:r>
              <a:rPr lang="en-US" dirty="0" err="1">
                <a:ea typeface="+mj-lt"/>
                <a:cs typeface="+mj-lt"/>
              </a:rPr>
              <a:t>rejette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cette</a:t>
            </a:r>
            <a:r>
              <a:rPr lang="en-US" dirty="0">
                <a:ea typeface="+mj-lt"/>
                <a:cs typeface="+mj-lt"/>
              </a:rPr>
              <a:t> idée et </a:t>
            </a:r>
            <a:r>
              <a:rPr lang="en-US" dirty="0" err="1">
                <a:ea typeface="+mj-lt"/>
                <a:cs typeface="+mj-lt"/>
              </a:rPr>
              <a:t>soutient</a:t>
            </a:r>
            <a:r>
              <a:rPr lang="en-US" dirty="0">
                <a:ea typeface="+mj-lt"/>
                <a:cs typeface="+mj-lt"/>
              </a:rPr>
              <a:t> la </a:t>
            </a:r>
            <a:r>
              <a:rPr lang="en-US" dirty="0" err="1">
                <a:ea typeface="+mj-lt"/>
                <a:cs typeface="+mj-lt"/>
              </a:rPr>
              <a:t>théorie</a:t>
            </a:r>
            <a:r>
              <a:rPr lang="en-US" dirty="0">
                <a:ea typeface="+mj-lt"/>
                <a:cs typeface="+mj-lt"/>
              </a:rPr>
              <a:t> des quatre </a:t>
            </a:r>
            <a:r>
              <a:rPr lang="en-US" dirty="0" err="1">
                <a:ea typeface="+mj-lt"/>
                <a:cs typeface="+mj-lt"/>
              </a:rPr>
              <a:t>éléments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dirty="0" err="1">
                <a:ea typeface="+mj-lt"/>
                <a:cs typeface="+mj-lt"/>
              </a:rPr>
              <a:t>l'eau</a:t>
            </a:r>
            <a:r>
              <a:rPr lang="en-US" dirty="0">
                <a:ea typeface="+mj-lt"/>
                <a:cs typeface="+mj-lt"/>
              </a:rPr>
              <a:t>, la terre, l'air et le feu). Sa vision, </a:t>
            </a:r>
            <a:r>
              <a:rPr lang="en-US" dirty="0" err="1">
                <a:ea typeface="+mj-lt"/>
                <a:cs typeface="+mj-lt"/>
              </a:rPr>
              <a:t>jugée</a:t>
            </a:r>
            <a:r>
              <a:rPr lang="en-US" dirty="0">
                <a:ea typeface="+mj-lt"/>
                <a:cs typeface="+mj-lt"/>
              </a:rPr>
              <a:t> plus </a:t>
            </a:r>
            <a:r>
              <a:rPr lang="en-US" dirty="0" err="1">
                <a:ea typeface="+mj-lt"/>
                <a:cs typeface="+mj-lt"/>
              </a:rPr>
              <a:t>séduisante</a:t>
            </a:r>
            <a:r>
              <a:rPr lang="en-US" dirty="0">
                <a:ea typeface="+mj-lt"/>
                <a:cs typeface="+mj-lt"/>
              </a:rPr>
              <a:t>, domine la pensée occidentale pendant plus de 2 000 ans. La </a:t>
            </a:r>
            <a:r>
              <a:rPr lang="en-US" dirty="0" err="1">
                <a:ea typeface="+mj-lt"/>
                <a:cs typeface="+mj-lt"/>
              </a:rPr>
              <a:t>cathédrale</a:t>
            </a:r>
            <a:r>
              <a:rPr lang="en-US" dirty="0">
                <a:ea typeface="+mj-lt"/>
                <a:cs typeface="+mj-lt"/>
              </a:rPr>
              <a:t> catholique </a:t>
            </a:r>
            <a:r>
              <a:rPr lang="en-US" dirty="0" err="1">
                <a:ea typeface="+mj-lt"/>
                <a:cs typeface="+mj-lt"/>
              </a:rPr>
              <a:t>défendait</a:t>
            </a:r>
            <a:r>
              <a:rPr lang="en-US" dirty="0">
                <a:ea typeface="+mj-lt"/>
                <a:cs typeface="+mj-lt"/>
              </a:rPr>
              <a:t> bien son </a:t>
            </a:r>
            <a:r>
              <a:rPr lang="en-US" dirty="0" err="1">
                <a:ea typeface="+mj-lt"/>
                <a:cs typeface="+mj-lt"/>
              </a:rPr>
              <a:t>acte</a:t>
            </a:r>
            <a:r>
              <a:rPr lang="en-US" dirty="0">
                <a:ea typeface="+mj-lt"/>
                <a:cs typeface="+mj-lt"/>
              </a:rPr>
              <a:t>..</a:t>
            </a:r>
            <a:endParaRPr lang="en-US" dirty="0"/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900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ll with a shadow&#10;&#10;AI-generated content may be incorrect.">
            <a:extLst>
              <a:ext uri="{FF2B5EF4-FFF2-40B4-BE49-F238E27FC236}">
                <a16:creationId xmlns:a16="http://schemas.microsoft.com/office/drawing/2014/main" id="{4570900A-709B-489F-C093-596A8B927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3349" b="-1"/>
          <a:stretch>
            <a:fillRect/>
          </a:stretch>
        </p:blipFill>
        <p:spPr>
          <a:xfrm>
            <a:off x="6094410" y="609601"/>
            <a:ext cx="5449889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239CC-7E35-0691-D117-E1EC368E4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600076"/>
            <a:ext cx="4797256" cy="56483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2. La renaissance </a:t>
            </a:r>
            <a:r>
              <a:rPr lang="en-US" dirty="0" err="1"/>
              <a:t>scientifique</a:t>
            </a:r>
            <a:r>
              <a:rPr lang="en-US" dirty="0"/>
              <a:t> et le </a:t>
            </a:r>
            <a:r>
              <a:rPr lang="en-US" dirty="0" err="1"/>
              <a:t>modèle</a:t>
            </a:r>
            <a:r>
              <a:rPr lang="en-US" dirty="0"/>
              <a:t> de Dalton (1808)</a:t>
            </a: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r>
              <a:rPr lang="en-US" dirty="0">
                <a:ea typeface="+mj-lt"/>
                <a:cs typeface="+mj-lt"/>
              </a:rPr>
              <a:t>Au début du XIXᵉ siècle, la </a:t>
            </a:r>
            <a:r>
              <a:rPr lang="en-US" dirty="0" err="1">
                <a:ea typeface="+mj-lt"/>
                <a:cs typeface="+mj-lt"/>
              </a:rPr>
              <a:t>chimie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expérimentale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renaît</a:t>
            </a:r>
            <a:r>
              <a:rPr lang="en-US" dirty="0">
                <a:ea typeface="+mj-lt"/>
                <a:cs typeface="+mj-lt"/>
              </a:rPr>
              <a:t>. </a:t>
            </a:r>
            <a:endParaRPr lang="en-US" dirty="0"/>
          </a:p>
          <a:p>
            <a:pPr>
              <a:lnSpc>
                <a:spcPct val="90000"/>
              </a:lnSpc>
              <a:buClr>
                <a:srgbClr val="8AD0D6"/>
              </a:buClr>
              <a:buFont typeface="Arial" charset="2"/>
              <a:buChar char="•"/>
            </a:pPr>
            <a:r>
              <a:rPr lang="en-US" b="1" dirty="0">
                <a:ea typeface="+mj-lt"/>
                <a:cs typeface="+mj-lt"/>
              </a:rPr>
              <a:t>John Dalton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étudie</a:t>
            </a:r>
            <a:r>
              <a:rPr lang="en-US" dirty="0">
                <a:ea typeface="+mj-lt"/>
                <a:cs typeface="+mj-lt"/>
              </a:rPr>
              <a:t> les </a:t>
            </a:r>
            <a:r>
              <a:rPr lang="en-US" dirty="0" err="1">
                <a:ea typeface="+mj-lt"/>
                <a:cs typeface="+mj-lt"/>
              </a:rPr>
              <a:t>réactions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chimiques</a:t>
            </a:r>
            <a:r>
              <a:rPr lang="en-US" dirty="0">
                <a:ea typeface="+mj-lt"/>
                <a:cs typeface="+mj-lt"/>
              </a:rPr>
              <a:t> et les masses des gaz. Il </a:t>
            </a:r>
            <a:r>
              <a:rPr lang="en-US" dirty="0" err="1">
                <a:ea typeface="+mj-lt"/>
                <a:cs typeface="+mj-lt"/>
              </a:rPr>
              <a:t>conclut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que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chaque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élément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chimique</a:t>
            </a:r>
            <a:r>
              <a:rPr lang="en-US" dirty="0">
                <a:ea typeface="+mj-lt"/>
                <a:cs typeface="+mj-lt"/>
              </a:rPr>
              <a:t> est </a:t>
            </a:r>
            <a:r>
              <a:rPr lang="en-US" dirty="0" err="1">
                <a:ea typeface="+mj-lt"/>
                <a:cs typeface="+mj-lt"/>
              </a:rPr>
              <a:t>composé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d'atomes</a:t>
            </a:r>
            <a:r>
              <a:rPr lang="en-US" dirty="0">
                <a:ea typeface="+mj-lt"/>
                <a:cs typeface="+mj-lt"/>
              </a:rPr>
              <a:t> uniques, </a:t>
            </a:r>
            <a:r>
              <a:rPr lang="en-US" dirty="0" err="1">
                <a:ea typeface="+mj-lt"/>
                <a:cs typeface="+mj-lt"/>
              </a:rPr>
              <a:t>identiques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en</a:t>
            </a:r>
            <a:r>
              <a:rPr lang="en-US" dirty="0">
                <a:ea typeface="+mj-lt"/>
                <a:cs typeface="+mj-lt"/>
              </a:rPr>
              <a:t> masse et </a:t>
            </a:r>
            <a:r>
              <a:rPr lang="en-US" dirty="0" err="1">
                <a:ea typeface="+mj-lt"/>
                <a:cs typeface="+mj-lt"/>
              </a:rPr>
              <a:t>en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propriétés</a:t>
            </a:r>
            <a:r>
              <a:rPr lang="en-US" dirty="0">
                <a:ea typeface="+mj-lt"/>
                <a:cs typeface="+mj-lt"/>
              </a:rPr>
              <a:t>. </a:t>
            </a:r>
            <a:endParaRPr lang="en-US" dirty="0"/>
          </a:p>
          <a:p>
            <a:pPr>
              <a:lnSpc>
                <a:spcPct val="90000"/>
              </a:lnSpc>
              <a:buClr>
                <a:srgbClr val="8AD0D6"/>
              </a:buClr>
              <a:buFont typeface="Arial" charset="2"/>
              <a:buChar char="•"/>
            </a:pPr>
            <a:r>
              <a:rPr lang="en-US" b="1" dirty="0" err="1">
                <a:ea typeface="+mj-lt"/>
                <a:cs typeface="+mj-lt"/>
              </a:rPr>
              <a:t>Représentation</a:t>
            </a:r>
            <a:r>
              <a:rPr lang="en-US" dirty="0">
                <a:ea typeface="+mj-lt"/>
                <a:cs typeface="+mj-lt"/>
              </a:rPr>
              <a:t> : Il imagine </a:t>
            </a:r>
            <a:r>
              <a:rPr lang="en-US" dirty="0" err="1">
                <a:ea typeface="+mj-lt"/>
                <a:cs typeface="+mj-lt"/>
              </a:rPr>
              <a:t>l'atome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comme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une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bille</a:t>
            </a:r>
            <a:r>
              <a:rPr lang="en-US" b="1" dirty="0">
                <a:ea typeface="+mj-lt"/>
                <a:cs typeface="+mj-lt"/>
              </a:rPr>
              <a:t> dure, </a:t>
            </a:r>
            <a:r>
              <a:rPr lang="en-US" b="1" dirty="0" err="1">
                <a:ea typeface="+mj-lt"/>
                <a:cs typeface="+mj-lt"/>
              </a:rPr>
              <a:t>pleine</a:t>
            </a:r>
            <a:r>
              <a:rPr lang="en-US" b="1" dirty="0">
                <a:ea typeface="+mj-lt"/>
                <a:cs typeface="+mj-lt"/>
              </a:rPr>
              <a:t> et indivisible</a:t>
            </a:r>
            <a:r>
              <a:rPr lang="en-US" dirty="0">
                <a:ea typeface="+mj-lt"/>
                <a:cs typeface="+mj-lt"/>
              </a:rPr>
              <a:t>. </a:t>
            </a:r>
            <a:endParaRPr lang="en-US" dirty="0"/>
          </a:p>
          <a:p>
            <a:pPr>
              <a:lnSpc>
                <a:spcPct val="90000"/>
              </a:lnSpc>
              <a:buClr>
                <a:srgbClr val="8AD0D6"/>
              </a:buClr>
              <a:buFont typeface="Arial" charset="2"/>
              <a:buChar char="•"/>
            </a:pPr>
            <a:endParaRPr lang="en-US" sz="17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1C22DA-F91C-E0FB-F2DD-58D1BB4D5B51}"/>
              </a:ext>
            </a:extLst>
          </p:cNvPr>
          <p:cNvSpPr txBox="1"/>
          <p:nvPr/>
        </p:nvSpPr>
        <p:spPr>
          <a:xfrm>
            <a:off x="6886575" y="5050631"/>
            <a:ext cx="22264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Modèle</a:t>
            </a:r>
            <a:r>
              <a:rPr lang="en-US" dirty="0"/>
              <a:t> de Dalton</a:t>
            </a:r>
          </a:p>
        </p:txBody>
      </p:sp>
    </p:spTree>
    <p:extLst>
      <p:ext uri="{BB962C8B-B14F-4D97-AF65-F5344CB8AC3E}">
        <p14:creationId xmlns:p14="http://schemas.microsoft.com/office/powerpoint/2010/main" val="3053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1A9BBD8-4BFC-897F-F4DC-724BAC8B8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592097"/>
            <a:ext cx="9252154" cy="18437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3. </a:t>
            </a:r>
            <a:r>
              <a:rPr lang="en-US" dirty="0" err="1">
                <a:solidFill>
                  <a:schemeClr val="tx1"/>
                </a:solidFill>
              </a:rPr>
              <a:t>L'atome</a:t>
            </a:r>
            <a:r>
              <a:rPr lang="en-US" dirty="0">
                <a:solidFill>
                  <a:schemeClr val="tx1"/>
                </a:solidFill>
              </a:rPr>
              <a:t> est divisible : La </a:t>
            </a:r>
            <a:r>
              <a:rPr lang="en-US" dirty="0" err="1">
                <a:solidFill>
                  <a:schemeClr val="tx1"/>
                </a:solidFill>
              </a:rPr>
              <a:t>découverte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l'électron</a:t>
            </a:r>
            <a:r>
              <a:rPr lang="en-US" dirty="0">
                <a:solidFill>
                  <a:schemeClr val="tx1"/>
                </a:solidFill>
              </a:rPr>
              <a:t> (1897)</a:t>
            </a:r>
          </a:p>
          <a:p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54960-532B-F499-8CE5-9234326E5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Clr>
                <a:srgbClr val="8AD0D6"/>
              </a:buClr>
              <a:buFont typeface="Arial" charset="2"/>
              <a:buChar char="•"/>
            </a:pPr>
            <a:r>
              <a:rPr lang="en-US" sz="1700" b="1" dirty="0">
                <a:ea typeface="+mj-lt"/>
                <a:cs typeface="+mj-lt"/>
              </a:rPr>
              <a:t>J.J. Thomson</a:t>
            </a:r>
            <a:r>
              <a:rPr lang="en-US" sz="1700" dirty="0">
                <a:ea typeface="+mj-lt"/>
                <a:cs typeface="+mj-lt"/>
              </a:rPr>
              <a:t> utilise un tube à rayons cathodiques et découvre que l'atome contient des particules encore plus petites de charge négative : </a:t>
            </a:r>
            <a:r>
              <a:rPr lang="en-US" sz="1700" b="1" dirty="0">
                <a:ea typeface="+mj-lt"/>
                <a:cs typeface="+mj-lt"/>
              </a:rPr>
              <a:t>les électrons</a:t>
            </a:r>
            <a:r>
              <a:rPr lang="en-US" sz="1700" dirty="0">
                <a:ea typeface="+mj-lt"/>
                <a:cs typeface="+mj-lt"/>
              </a:rPr>
              <a:t>. </a:t>
            </a:r>
            <a:endParaRPr lang="en-US" dirty="0"/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en-US" sz="1700" b="1" dirty="0">
                <a:ea typeface="+mj-lt"/>
                <a:cs typeface="+mj-lt"/>
              </a:rPr>
              <a:t>Modèle du Plum Pudding (1904)</a:t>
            </a:r>
            <a:r>
              <a:rPr lang="en-US" sz="1700" dirty="0">
                <a:ea typeface="+mj-lt"/>
                <a:cs typeface="+mj-lt"/>
              </a:rPr>
              <a:t> : Thomson propose que l'atome soit une sphère de charge positive dans laquelle sont plantés des électrons négatifs, à la manière des raisins dans un gâteau.</a:t>
            </a:r>
            <a:endParaRPr lang="en-US" sz="1700" dirty="0"/>
          </a:p>
          <a:p>
            <a:pPr>
              <a:lnSpc>
                <a:spcPct val="90000"/>
              </a:lnSpc>
              <a:buClr>
                <a:srgbClr val="8AD0D6"/>
              </a:buClr>
              <a:buFont typeface="Arial" charset="2"/>
              <a:buChar char="•"/>
            </a:pPr>
            <a:endParaRPr lang="en-US" sz="1700"/>
          </a:p>
        </p:txBody>
      </p:sp>
      <p:pic>
        <p:nvPicPr>
          <p:cNvPr id="4" name="Picture 3" descr="A close-up of a fruit&#10;&#10;AI-generated content may be incorrect.">
            <a:extLst>
              <a:ext uri="{FF2B5EF4-FFF2-40B4-BE49-F238E27FC236}">
                <a16:creationId xmlns:a16="http://schemas.microsoft.com/office/drawing/2014/main" id="{032A21FE-75D3-5B5E-15AA-BE3594E9E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1916" y="3070900"/>
            <a:ext cx="5451627" cy="2616780"/>
          </a:xfrm>
          <a:prstGeom prst="rect">
            <a:avLst/>
          </a:prstGeom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815141A-B596-CEBA-7DE1-2DC04DA1F902}"/>
              </a:ext>
            </a:extLst>
          </p:cNvPr>
          <p:cNvSpPr txBox="1"/>
          <p:nvPr/>
        </p:nvSpPr>
        <p:spPr>
          <a:xfrm>
            <a:off x="6652535" y="2356354"/>
            <a:ext cx="41295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Le </a:t>
            </a:r>
            <a:r>
              <a:rPr lang="en-US" dirty="0" err="1"/>
              <a:t>modèle</a:t>
            </a:r>
            <a:r>
              <a:rPr lang="en-US" dirty="0"/>
              <a:t> de Thomson</a:t>
            </a:r>
          </a:p>
        </p:txBody>
      </p:sp>
    </p:spTree>
    <p:extLst>
      <p:ext uri="{BB962C8B-B14F-4D97-AF65-F5344CB8AC3E}">
        <p14:creationId xmlns:p14="http://schemas.microsoft.com/office/powerpoint/2010/main" val="3868001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5F67EA-22E0-203A-EA12-2E1303162552}"/>
              </a:ext>
            </a:extLst>
          </p:cNvPr>
          <p:cNvSpPr txBox="1"/>
          <p:nvPr/>
        </p:nvSpPr>
        <p:spPr>
          <a:xfrm>
            <a:off x="648931" y="582804"/>
            <a:ext cx="4166510" cy="16130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latin typeface="+mj-lt"/>
                <a:ea typeface="+mj-ea"/>
                <a:cs typeface="+mj-cs"/>
              </a:rPr>
              <a:t>4. La </a:t>
            </a:r>
            <a:r>
              <a:rPr lang="en-US" sz="2400" dirty="0" err="1">
                <a:latin typeface="+mj-lt"/>
                <a:ea typeface="+mj-ea"/>
                <a:cs typeface="+mj-cs"/>
              </a:rPr>
              <a:t>découverte</a:t>
            </a:r>
            <a:r>
              <a:rPr lang="en-US" sz="2400" dirty="0">
                <a:latin typeface="+mj-lt"/>
                <a:ea typeface="+mj-ea"/>
                <a:cs typeface="+mj-cs"/>
              </a:rPr>
              <a:t> du noyau et le </a:t>
            </a:r>
            <a:r>
              <a:rPr lang="en-US" sz="2400" dirty="0" err="1">
                <a:latin typeface="+mj-lt"/>
                <a:ea typeface="+mj-ea"/>
                <a:cs typeface="+mj-cs"/>
              </a:rPr>
              <a:t>modèle</a:t>
            </a:r>
            <a:r>
              <a:rPr 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latin typeface="+mj-lt"/>
                <a:ea typeface="+mj-ea"/>
                <a:cs typeface="+mj-cs"/>
              </a:rPr>
              <a:t>planétaire</a:t>
            </a:r>
            <a:r>
              <a:rPr lang="en-US" sz="2400" dirty="0">
                <a:latin typeface="+mj-lt"/>
                <a:ea typeface="+mj-ea"/>
                <a:cs typeface="+mj-cs"/>
              </a:rPr>
              <a:t> (1911)</a:t>
            </a:r>
            <a:endParaRPr lang="en-US">
              <a:ea typeface="+mj-ea"/>
              <a:cs typeface="+mj-cs"/>
            </a:endParaRPr>
          </a:p>
        </p:txBody>
      </p:sp>
      <p:pic>
        <p:nvPicPr>
          <p:cNvPr id="4" name="Picture 3" descr="Diagram of an atom with arrows pointing at the center&#10;&#10;AI-generated content may be incorrect.">
            <a:extLst>
              <a:ext uri="{FF2B5EF4-FFF2-40B4-BE49-F238E27FC236}">
                <a16:creationId xmlns:a16="http://schemas.microsoft.com/office/drawing/2014/main" id="{68B469C2-E914-AFB0-BD87-13D5E2ED5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64309" y="1716525"/>
            <a:ext cx="5449889" cy="3443532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51CC-0BBA-097F-471B-B37591AA8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Ernest Rutherford </a:t>
            </a:r>
            <a:r>
              <a:rPr lang="en-US" dirty="0" err="1"/>
              <a:t>réalise</a:t>
            </a:r>
            <a:r>
              <a:rPr lang="en-US" dirty="0"/>
              <a:t> la célèbre </a:t>
            </a:r>
            <a:r>
              <a:rPr lang="en-US" dirty="0" err="1"/>
              <a:t>expérience</a:t>
            </a:r>
            <a:r>
              <a:rPr lang="en-US" dirty="0"/>
              <a:t> de la </a:t>
            </a:r>
            <a:r>
              <a:rPr lang="en-US" dirty="0" err="1"/>
              <a:t>feuille</a:t>
            </a:r>
            <a:r>
              <a:rPr lang="en-US" dirty="0"/>
              <a:t> d'or. En </a:t>
            </a:r>
            <a:r>
              <a:rPr lang="en-US" dirty="0" err="1"/>
              <a:t>bombardant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mince </a:t>
            </a:r>
            <a:r>
              <a:rPr lang="en-US" dirty="0" err="1"/>
              <a:t>feuille</a:t>
            </a:r>
            <a:r>
              <a:rPr lang="en-US" dirty="0"/>
              <a:t> d'or avec des </a:t>
            </a:r>
            <a:r>
              <a:rPr lang="en-US" dirty="0" err="1"/>
              <a:t>particules</a:t>
            </a:r>
            <a:r>
              <a:rPr lang="en-US" dirty="0"/>
              <a:t> alpha positives, il constate </a:t>
            </a:r>
            <a:r>
              <a:rPr lang="en-US" dirty="0" err="1"/>
              <a:t>que</a:t>
            </a:r>
            <a:r>
              <a:rPr lang="en-US" dirty="0"/>
              <a:t> la très grande </a:t>
            </a:r>
            <a:r>
              <a:rPr lang="en-US" dirty="0" err="1"/>
              <a:t>majorité</a:t>
            </a:r>
            <a:r>
              <a:rPr lang="en-US" dirty="0"/>
              <a:t> des </a:t>
            </a:r>
            <a:r>
              <a:rPr lang="en-US" dirty="0" err="1"/>
              <a:t>particules</a:t>
            </a:r>
            <a:r>
              <a:rPr lang="en-US" dirty="0"/>
              <a:t> </a:t>
            </a:r>
            <a:r>
              <a:rPr lang="en-US" dirty="0" err="1"/>
              <a:t>traversent</a:t>
            </a:r>
            <a:r>
              <a:rPr lang="en-US" dirty="0"/>
              <a:t> la </a:t>
            </a:r>
            <a:r>
              <a:rPr lang="en-US" dirty="0" err="1"/>
              <a:t>feuille</a:t>
            </a:r>
            <a:r>
              <a:rPr lang="en-US" dirty="0"/>
              <a:t> sans </a:t>
            </a:r>
            <a:r>
              <a:rPr lang="en-US" dirty="0" err="1"/>
              <a:t>déviation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quelques-unes</a:t>
            </a:r>
            <a:r>
              <a:rPr lang="en-US" dirty="0"/>
              <a:t> </a:t>
            </a:r>
            <a:r>
              <a:rPr lang="en-US" dirty="0" err="1"/>
              <a:t>rebondissent</a:t>
            </a:r>
            <a:r>
              <a:rPr lang="en-US" dirty="0"/>
              <a:t>. </a:t>
            </a:r>
            <a:endParaRPr lang="en-US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7458E-FD57-FF66-EA6E-FD8857AD533F}"/>
              </a:ext>
            </a:extLst>
          </p:cNvPr>
          <p:cNvSpPr txBox="1"/>
          <p:nvPr/>
        </p:nvSpPr>
        <p:spPr>
          <a:xfrm>
            <a:off x="5926587" y="630741"/>
            <a:ext cx="34036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Le </a:t>
            </a:r>
            <a:r>
              <a:rPr lang="en-US" dirty="0" err="1"/>
              <a:t>modèle</a:t>
            </a:r>
            <a:r>
              <a:rPr lang="en-US" dirty="0"/>
              <a:t> de Rutherford</a:t>
            </a:r>
          </a:p>
        </p:txBody>
      </p:sp>
    </p:spTree>
    <p:extLst>
      <p:ext uri="{BB962C8B-B14F-4D97-AF65-F5344CB8AC3E}">
        <p14:creationId xmlns:p14="http://schemas.microsoft.com/office/powerpoint/2010/main" val="1287059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 of a model of a nitrogen atom&#10;&#10;AI-generated content may be incorrect.">
            <a:extLst>
              <a:ext uri="{FF2B5EF4-FFF2-40B4-BE49-F238E27FC236}">
                <a16:creationId xmlns:a16="http://schemas.microsoft.com/office/drawing/2014/main" id="{4B4EA798-D0EC-4FD9-8F9B-4CE7DEC6C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576" r="16910"/>
          <a:stretch>
            <a:fillRect/>
          </a:stretch>
        </p:blipFill>
        <p:spPr>
          <a:xfrm>
            <a:off x="6094410" y="609601"/>
            <a:ext cx="5449889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3000A-E026-8AA4-32F4-DC75EC410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438401"/>
            <a:ext cx="4797256" cy="43338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90000"/>
              </a:lnSpc>
              <a:buClr>
                <a:srgbClr val="1E5155">
                  <a:lumMod val="40000"/>
                  <a:lumOff val="60000"/>
                </a:srgbClr>
              </a:buClr>
              <a:buFont typeface="Arial" charset="2"/>
              <a:buChar char="•"/>
            </a:pPr>
            <a:r>
              <a:rPr lang="en-US" b="1" dirty="0">
                <a:ea typeface="+mj-lt"/>
                <a:cs typeface="+mj-lt"/>
              </a:rPr>
              <a:t>Niels Bohr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résout</a:t>
            </a:r>
            <a:r>
              <a:rPr lang="en-US" dirty="0">
                <a:ea typeface="+mj-lt"/>
                <a:cs typeface="+mj-lt"/>
              </a:rPr>
              <a:t> un </a:t>
            </a:r>
            <a:r>
              <a:rPr lang="en-US" dirty="0" err="1">
                <a:ea typeface="+mj-lt"/>
                <a:cs typeface="+mj-lt"/>
              </a:rPr>
              <a:t>problème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majeur</a:t>
            </a:r>
            <a:r>
              <a:rPr lang="en-US" dirty="0">
                <a:ea typeface="+mj-lt"/>
                <a:cs typeface="+mj-lt"/>
              </a:rPr>
              <a:t> du </a:t>
            </a:r>
            <a:r>
              <a:rPr lang="en-US" dirty="0" err="1">
                <a:ea typeface="+mj-lt"/>
                <a:cs typeface="+mj-lt"/>
              </a:rPr>
              <a:t>modèle</a:t>
            </a:r>
            <a:r>
              <a:rPr lang="en-US" dirty="0">
                <a:ea typeface="+mj-lt"/>
                <a:cs typeface="+mj-lt"/>
              </a:rPr>
              <a:t> de Rutherford (les </a:t>
            </a:r>
            <a:r>
              <a:rPr lang="en-US" dirty="0" err="1">
                <a:ea typeface="+mj-lt"/>
                <a:cs typeface="+mj-lt"/>
              </a:rPr>
              <a:t>électrons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devaient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théoriquement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s'effondrer</a:t>
            </a:r>
            <a:r>
              <a:rPr lang="en-US" dirty="0">
                <a:ea typeface="+mj-lt"/>
                <a:cs typeface="+mj-lt"/>
              </a:rPr>
              <a:t> sur le noyau). </a:t>
            </a:r>
            <a:endParaRPr lang="en-US"/>
          </a:p>
          <a:p>
            <a:pPr>
              <a:lnSpc>
                <a:spcPct val="90000"/>
              </a:lnSpc>
              <a:buClr>
                <a:srgbClr val="8AD0D6"/>
              </a:buClr>
              <a:buFont typeface="Arial" charset="2"/>
              <a:buChar char="•"/>
            </a:pPr>
            <a:r>
              <a:rPr lang="en-US" dirty="0">
                <a:ea typeface="+mj-lt"/>
                <a:cs typeface="+mj-lt"/>
              </a:rPr>
              <a:t>En </a:t>
            </a:r>
            <a:r>
              <a:rPr lang="en-US" dirty="0" err="1">
                <a:ea typeface="+mj-lt"/>
                <a:cs typeface="+mj-lt"/>
              </a:rPr>
              <a:t>appliquant</a:t>
            </a:r>
            <a:r>
              <a:rPr lang="en-US" dirty="0">
                <a:ea typeface="+mj-lt"/>
                <a:cs typeface="+mj-lt"/>
              </a:rPr>
              <a:t> la </a:t>
            </a:r>
            <a:r>
              <a:rPr lang="en-US" dirty="0" err="1">
                <a:ea typeface="+mj-lt"/>
                <a:cs typeface="+mj-lt"/>
              </a:rPr>
              <a:t>théorie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quantique</a:t>
            </a:r>
            <a:r>
              <a:rPr lang="en-US" dirty="0">
                <a:ea typeface="+mj-lt"/>
                <a:cs typeface="+mj-lt"/>
              </a:rPr>
              <a:t> de Max Planck, il </a:t>
            </a:r>
            <a:r>
              <a:rPr lang="en-US" dirty="0" err="1">
                <a:ea typeface="+mj-lt"/>
                <a:cs typeface="+mj-lt"/>
              </a:rPr>
              <a:t>démontre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que</a:t>
            </a:r>
            <a:r>
              <a:rPr lang="en-US" dirty="0">
                <a:ea typeface="+mj-lt"/>
                <a:cs typeface="+mj-lt"/>
              </a:rPr>
              <a:t> les </a:t>
            </a:r>
            <a:r>
              <a:rPr lang="en-US" dirty="0" err="1">
                <a:ea typeface="+mj-lt"/>
                <a:cs typeface="+mj-lt"/>
              </a:rPr>
              <a:t>électrons</a:t>
            </a:r>
            <a:r>
              <a:rPr lang="en-US" dirty="0">
                <a:ea typeface="+mj-lt"/>
                <a:cs typeface="+mj-lt"/>
              </a:rPr>
              <a:t> se </a:t>
            </a:r>
            <a:r>
              <a:rPr lang="en-US" dirty="0" err="1">
                <a:ea typeface="+mj-lt"/>
                <a:cs typeface="+mj-lt"/>
              </a:rPr>
              <a:t>déplacent</a:t>
            </a:r>
            <a:r>
              <a:rPr lang="en-US" dirty="0">
                <a:ea typeface="+mj-lt"/>
                <a:cs typeface="+mj-lt"/>
              </a:rPr>
              <a:t> sur des </a:t>
            </a:r>
            <a:r>
              <a:rPr lang="en-US" b="1" dirty="0" err="1">
                <a:ea typeface="+mj-lt"/>
                <a:cs typeface="+mj-lt"/>
              </a:rPr>
              <a:t>orbites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ou</a:t>
            </a:r>
            <a:r>
              <a:rPr lang="en-US" b="1" dirty="0">
                <a:ea typeface="+mj-lt"/>
                <a:cs typeface="+mj-lt"/>
              </a:rPr>
              <a:t> couches </a:t>
            </a:r>
            <a:r>
              <a:rPr lang="en-US" b="1" dirty="0" err="1">
                <a:ea typeface="+mj-lt"/>
                <a:cs typeface="+mj-lt"/>
              </a:rPr>
              <a:t>d'énergie</a:t>
            </a:r>
            <a:r>
              <a:rPr lang="en-US" b="1" dirty="0">
                <a:ea typeface="+mj-lt"/>
                <a:cs typeface="+mj-lt"/>
              </a:rPr>
              <a:t> bien précises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dirty="0" err="1">
                <a:ea typeface="+mj-lt"/>
                <a:cs typeface="+mj-lt"/>
              </a:rPr>
              <a:t>quantifiées</a:t>
            </a:r>
            <a:r>
              <a:rPr lang="en-US" dirty="0">
                <a:ea typeface="+mj-lt"/>
                <a:cs typeface="+mj-lt"/>
              </a:rPr>
              <a:t>). Pour changer de couche, </a:t>
            </a:r>
            <a:r>
              <a:rPr lang="en-US" dirty="0" err="1">
                <a:ea typeface="+mj-lt"/>
                <a:cs typeface="+mj-lt"/>
              </a:rPr>
              <a:t>l'électron</a:t>
            </a:r>
            <a:r>
              <a:rPr lang="en-US" dirty="0">
                <a:ea typeface="+mj-lt"/>
                <a:cs typeface="+mj-lt"/>
              </a:rPr>
              <a:t> doit absorber </a:t>
            </a:r>
            <a:r>
              <a:rPr lang="en-US" dirty="0" err="1">
                <a:ea typeface="+mj-lt"/>
                <a:cs typeface="+mj-lt"/>
              </a:rPr>
              <a:t>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émettre</a:t>
            </a:r>
            <a:r>
              <a:rPr lang="en-US" dirty="0">
                <a:ea typeface="+mj-lt"/>
                <a:cs typeface="+mj-lt"/>
              </a:rPr>
              <a:t> un quantum </a:t>
            </a:r>
            <a:r>
              <a:rPr lang="en-US" dirty="0" err="1">
                <a:ea typeface="+mj-lt"/>
                <a:cs typeface="+mj-lt"/>
              </a:rPr>
              <a:t>d'énergie</a:t>
            </a:r>
            <a:r>
              <a:rPr lang="en-US" dirty="0">
                <a:ea typeface="+mj-lt"/>
                <a:cs typeface="+mj-lt"/>
              </a:rPr>
              <a:t> (photons).</a:t>
            </a:r>
            <a:endParaRPr lang="en-US"/>
          </a:p>
          <a:p>
            <a:pPr>
              <a:lnSpc>
                <a:spcPct val="90000"/>
              </a:lnSpc>
              <a:buClr>
                <a:srgbClr val="8AD0D6"/>
              </a:buClr>
              <a:buFont typeface="Arial" charset="2"/>
              <a:buChar char="•"/>
            </a:pPr>
            <a:endParaRPr lang="en-US" sz="17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86D1A-EB39-9BB0-CFE1-7664C60905C8}"/>
              </a:ext>
            </a:extLst>
          </p:cNvPr>
          <p:cNvSpPr txBox="1"/>
          <p:nvPr/>
        </p:nvSpPr>
        <p:spPr>
          <a:xfrm>
            <a:off x="6094410" y="5684519"/>
            <a:ext cx="5449889" cy="563879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err="1">
                <a:solidFill>
                  <a:srgbClr val="FFFFFF"/>
                </a:solidFill>
              </a:rPr>
              <a:t>Modèle</a:t>
            </a:r>
            <a:r>
              <a:rPr lang="en-US" sz="1300">
                <a:solidFill>
                  <a:srgbClr val="FFFFFF"/>
                </a:solidFill>
              </a:rPr>
              <a:t> de Bohr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FE590-2A73-C9C7-E0AC-C4B7F16CF350}"/>
              </a:ext>
            </a:extLst>
          </p:cNvPr>
          <p:cNvSpPr txBox="1"/>
          <p:nvPr/>
        </p:nvSpPr>
        <p:spPr>
          <a:xfrm>
            <a:off x="940593" y="357187"/>
            <a:ext cx="45077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5. La quantification et les couches </a:t>
            </a:r>
            <a:r>
              <a:rPr lang="en-US" sz="2400" dirty="0" err="1"/>
              <a:t>électroniques</a:t>
            </a:r>
            <a:r>
              <a:rPr lang="en-US" sz="2400" dirty="0"/>
              <a:t> (1913)</a:t>
            </a:r>
          </a:p>
        </p:txBody>
      </p:sp>
    </p:spTree>
    <p:extLst>
      <p:ext uri="{BB962C8B-B14F-4D97-AF65-F5344CB8AC3E}">
        <p14:creationId xmlns:p14="http://schemas.microsoft.com/office/powerpoint/2010/main" val="260758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blue and red sphere&#10;&#10;AI-generated content may be incorrect.">
            <a:extLst>
              <a:ext uri="{FF2B5EF4-FFF2-40B4-BE49-F238E27FC236}">
                <a16:creationId xmlns:a16="http://schemas.microsoft.com/office/drawing/2014/main" id="{3CBE47BD-4728-FED1-E4F5-2AD93C4368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8" r="1093"/>
          <a:stretch>
            <a:fillRect/>
          </a:stretch>
        </p:blipFill>
        <p:spPr>
          <a:xfrm>
            <a:off x="6094410" y="609601"/>
            <a:ext cx="5449889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043A0-704D-A148-F8CC-C047669C4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485776"/>
            <a:ext cx="4797256" cy="58959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6. </a:t>
            </a:r>
            <a:r>
              <a:rPr lang="en-US" sz="1800" dirty="0" err="1"/>
              <a:t>L'achèvement</a:t>
            </a:r>
            <a:r>
              <a:rPr lang="en-US" sz="1800" dirty="0"/>
              <a:t> du noyau et le </a:t>
            </a:r>
            <a:r>
              <a:rPr lang="en-US" sz="1800" dirty="0" err="1"/>
              <a:t>modèle</a:t>
            </a:r>
            <a:r>
              <a:rPr lang="en-US" sz="1800" dirty="0"/>
              <a:t> </a:t>
            </a:r>
            <a:r>
              <a:rPr lang="en-US" sz="1800" dirty="0" err="1"/>
              <a:t>quantique</a:t>
            </a:r>
            <a:r>
              <a:rPr lang="en-US" sz="1800" dirty="0"/>
              <a:t> (1926–1932)</a:t>
            </a:r>
          </a:p>
          <a:p>
            <a:pPr>
              <a:lnSpc>
                <a:spcPct val="90000"/>
              </a:lnSpc>
              <a:buClr>
                <a:srgbClr val="8AD0D6"/>
              </a:buClr>
              <a:buFont typeface="Arial" charset="2"/>
              <a:buChar char="•"/>
            </a:pPr>
            <a:r>
              <a:rPr lang="en-US" sz="1800" b="1" dirty="0">
                <a:ea typeface="+mj-lt"/>
                <a:cs typeface="+mj-lt"/>
              </a:rPr>
              <a:t>Erwin Schrödinger &amp; Werner Heisenberg (1926)</a:t>
            </a:r>
            <a:r>
              <a:rPr lang="en-US" sz="1800" dirty="0">
                <a:ea typeface="+mj-lt"/>
                <a:cs typeface="+mj-lt"/>
              </a:rPr>
              <a:t> : </a:t>
            </a:r>
            <a:r>
              <a:rPr lang="en-US" sz="1800" dirty="0" err="1">
                <a:ea typeface="+mj-lt"/>
                <a:cs typeface="+mj-lt"/>
              </a:rPr>
              <a:t>Ils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abandonnent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l'idée</a:t>
            </a:r>
            <a:r>
              <a:rPr lang="en-US" sz="1800" dirty="0">
                <a:ea typeface="+mj-lt"/>
                <a:cs typeface="+mj-lt"/>
              </a:rPr>
              <a:t> de </a:t>
            </a:r>
            <a:r>
              <a:rPr lang="en-US" sz="1800" dirty="0" err="1">
                <a:ea typeface="+mj-lt"/>
                <a:cs typeface="+mj-lt"/>
              </a:rPr>
              <a:t>trajectoires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ou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d'orbites</a:t>
            </a:r>
            <a:r>
              <a:rPr lang="en-US" sz="1800" dirty="0">
                <a:ea typeface="+mj-lt"/>
                <a:cs typeface="+mj-lt"/>
              </a:rPr>
              <a:t> fixes. </a:t>
            </a:r>
            <a:r>
              <a:rPr lang="en-US" sz="1800" dirty="0" err="1">
                <a:ea typeface="+mj-lt"/>
                <a:cs typeface="+mj-lt"/>
              </a:rPr>
              <a:t>Selon</a:t>
            </a:r>
            <a:r>
              <a:rPr lang="en-US" sz="1800" dirty="0">
                <a:ea typeface="+mj-lt"/>
                <a:cs typeface="+mj-lt"/>
              </a:rPr>
              <a:t> la </a:t>
            </a:r>
            <a:r>
              <a:rPr lang="en-US" sz="1800" dirty="0" err="1">
                <a:ea typeface="+mj-lt"/>
                <a:cs typeface="+mj-lt"/>
              </a:rPr>
              <a:t>mécanique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quantique</a:t>
            </a:r>
            <a:r>
              <a:rPr lang="en-US" sz="1800" dirty="0">
                <a:ea typeface="+mj-lt"/>
                <a:cs typeface="+mj-lt"/>
              </a:rPr>
              <a:t> et le </a:t>
            </a:r>
            <a:r>
              <a:rPr lang="en-US" sz="1800" dirty="0" err="1">
                <a:ea typeface="+mj-lt"/>
                <a:cs typeface="+mj-lt"/>
              </a:rPr>
              <a:t>principe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d'incertitude</a:t>
            </a:r>
            <a:r>
              <a:rPr lang="en-US" sz="1800" dirty="0">
                <a:ea typeface="+mj-lt"/>
                <a:cs typeface="+mj-lt"/>
              </a:rPr>
              <a:t>, on ne </a:t>
            </a:r>
            <a:r>
              <a:rPr lang="en-US" sz="1800" dirty="0" err="1">
                <a:ea typeface="+mj-lt"/>
                <a:cs typeface="+mj-lt"/>
              </a:rPr>
              <a:t>peut</a:t>
            </a:r>
            <a:r>
              <a:rPr lang="en-US" sz="1800" dirty="0">
                <a:ea typeface="+mj-lt"/>
                <a:cs typeface="+mj-lt"/>
              </a:rPr>
              <a:t> pas </a:t>
            </a:r>
            <a:r>
              <a:rPr lang="en-US" sz="1800" dirty="0" err="1">
                <a:ea typeface="+mj-lt"/>
                <a:cs typeface="+mj-lt"/>
              </a:rPr>
              <a:t>connaître</a:t>
            </a:r>
            <a:r>
              <a:rPr lang="en-US" sz="1800" dirty="0">
                <a:ea typeface="+mj-lt"/>
                <a:cs typeface="+mj-lt"/>
              </a:rPr>
              <a:t> à la </a:t>
            </a:r>
            <a:r>
              <a:rPr lang="en-US" sz="1800" dirty="0" err="1">
                <a:ea typeface="+mj-lt"/>
                <a:cs typeface="+mj-lt"/>
              </a:rPr>
              <a:t>fois</a:t>
            </a:r>
            <a:r>
              <a:rPr lang="en-US" sz="1800" dirty="0">
                <a:ea typeface="+mj-lt"/>
                <a:cs typeface="+mj-lt"/>
              </a:rPr>
              <a:t> la position et la </a:t>
            </a:r>
            <a:r>
              <a:rPr lang="en-US" sz="1800" dirty="0" err="1">
                <a:ea typeface="+mj-lt"/>
                <a:cs typeface="+mj-lt"/>
              </a:rPr>
              <a:t>vitesse</a:t>
            </a:r>
            <a:r>
              <a:rPr lang="en-US" sz="1800" dirty="0">
                <a:ea typeface="+mj-lt"/>
                <a:cs typeface="+mj-lt"/>
              </a:rPr>
              <a:t> d'un </a:t>
            </a:r>
            <a:r>
              <a:rPr lang="en-US" sz="1800" dirty="0" err="1">
                <a:ea typeface="+mj-lt"/>
                <a:cs typeface="+mj-lt"/>
              </a:rPr>
              <a:t>électron</a:t>
            </a:r>
            <a:r>
              <a:rPr lang="en-US" sz="1800" dirty="0">
                <a:ea typeface="+mj-lt"/>
                <a:cs typeface="+mj-lt"/>
              </a:rPr>
              <a:t>. </a:t>
            </a:r>
            <a:r>
              <a:rPr lang="en-US" sz="1800" dirty="0" err="1">
                <a:ea typeface="+mj-lt"/>
                <a:cs typeface="+mj-lt"/>
              </a:rPr>
              <a:t>L'atome</a:t>
            </a:r>
            <a:r>
              <a:rPr lang="en-US" sz="1800" dirty="0">
                <a:ea typeface="+mj-lt"/>
                <a:cs typeface="+mj-lt"/>
              </a:rPr>
              <a:t> est </a:t>
            </a:r>
            <a:r>
              <a:rPr lang="en-US" sz="1800" dirty="0" err="1">
                <a:ea typeface="+mj-lt"/>
                <a:cs typeface="+mj-lt"/>
              </a:rPr>
              <a:t>désormais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décrit</a:t>
            </a:r>
            <a:r>
              <a:rPr lang="en-US" sz="1800" dirty="0">
                <a:ea typeface="+mj-lt"/>
                <a:cs typeface="+mj-lt"/>
              </a:rPr>
              <a:t> par un </a:t>
            </a:r>
            <a:r>
              <a:rPr lang="en-US" sz="1800" b="1" dirty="0" err="1">
                <a:ea typeface="+mj-lt"/>
                <a:cs typeface="+mj-lt"/>
              </a:rPr>
              <a:t>nuage</a:t>
            </a:r>
            <a:r>
              <a:rPr lang="en-US" sz="1800" b="1" dirty="0">
                <a:ea typeface="+mj-lt"/>
                <a:cs typeface="+mj-lt"/>
              </a:rPr>
              <a:t> </a:t>
            </a:r>
            <a:r>
              <a:rPr lang="en-US" sz="1800" b="1" dirty="0" err="1">
                <a:ea typeface="+mj-lt"/>
                <a:cs typeface="+mj-lt"/>
              </a:rPr>
              <a:t>électronique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où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l'on</a:t>
            </a:r>
            <a:r>
              <a:rPr lang="en-US" sz="1800" dirty="0">
                <a:ea typeface="+mj-lt"/>
                <a:cs typeface="+mj-lt"/>
              </a:rPr>
              <a:t> parle de </a:t>
            </a:r>
            <a:r>
              <a:rPr lang="en-US" sz="1800" i="1" dirty="0" err="1">
                <a:ea typeface="+mj-lt"/>
                <a:cs typeface="+mj-lt"/>
              </a:rPr>
              <a:t>probabilité</a:t>
            </a:r>
            <a:r>
              <a:rPr lang="en-US" sz="1800" i="1" dirty="0">
                <a:ea typeface="+mj-lt"/>
                <a:cs typeface="+mj-lt"/>
              </a:rPr>
              <a:t> de </a:t>
            </a:r>
            <a:r>
              <a:rPr lang="en-US" sz="1800" i="1" dirty="0" err="1">
                <a:ea typeface="+mj-lt"/>
                <a:cs typeface="+mj-lt"/>
              </a:rPr>
              <a:t>présence</a:t>
            </a:r>
            <a:r>
              <a:rPr lang="en-US" sz="1800" dirty="0">
                <a:ea typeface="+mj-lt"/>
                <a:cs typeface="+mj-lt"/>
              </a:rPr>
              <a:t> des </a:t>
            </a:r>
            <a:r>
              <a:rPr lang="en-US" sz="1800" dirty="0" err="1">
                <a:ea typeface="+mj-lt"/>
                <a:cs typeface="+mj-lt"/>
              </a:rPr>
              <a:t>électrons</a:t>
            </a:r>
            <a:r>
              <a:rPr lang="en-US" sz="1800" dirty="0">
                <a:ea typeface="+mj-lt"/>
                <a:cs typeface="+mj-lt"/>
              </a:rPr>
              <a:t>. 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  <a:buFont typeface="Arial" charset="2"/>
              <a:buChar char="•"/>
            </a:pPr>
            <a:endParaRPr lang="en-US" sz="1800" b="1" dirty="0">
              <a:ea typeface="+mj-lt"/>
              <a:cs typeface="+mj-lt"/>
            </a:endParaRPr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en-US" sz="1800" b="1" dirty="0">
                <a:ea typeface="+mj-lt"/>
                <a:cs typeface="+mj-lt"/>
              </a:rPr>
              <a:t>James Chadwick (1932)</a:t>
            </a:r>
            <a:r>
              <a:rPr lang="en-US" sz="1800" dirty="0">
                <a:ea typeface="+mj-lt"/>
                <a:cs typeface="+mj-lt"/>
              </a:rPr>
              <a:t> : Il </a:t>
            </a:r>
            <a:r>
              <a:rPr lang="en-US" sz="1800" dirty="0" err="1">
                <a:ea typeface="+mj-lt"/>
                <a:cs typeface="+mj-lt"/>
              </a:rPr>
              <a:t>découvre</a:t>
            </a:r>
            <a:r>
              <a:rPr lang="en-US" sz="1800" dirty="0">
                <a:ea typeface="+mj-lt"/>
                <a:cs typeface="+mj-lt"/>
              </a:rPr>
              <a:t> le </a:t>
            </a:r>
            <a:r>
              <a:rPr lang="en-US" sz="1800" b="1" dirty="0">
                <a:ea typeface="+mj-lt"/>
                <a:cs typeface="+mj-lt"/>
              </a:rPr>
              <a:t>neutron</a:t>
            </a:r>
            <a:r>
              <a:rPr lang="en-US" sz="1800" dirty="0">
                <a:ea typeface="+mj-lt"/>
                <a:cs typeface="+mj-lt"/>
              </a:rPr>
              <a:t>, la </a:t>
            </a:r>
            <a:r>
              <a:rPr lang="en-US" sz="1800" dirty="0" err="1">
                <a:ea typeface="+mj-lt"/>
                <a:cs typeface="+mj-lt"/>
              </a:rPr>
              <a:t>particule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neutre</a:t>
            </a:r>
            <a:r>
              <a:rPr lang="en-US" sz="1800" dirty="0">
                <a:ea typeface="+mj-lt"/>
                <a:cs typeface="+mj-lt"/>
              </a:rPr>
              <a:t> du noyau. Le puzzle du noyau (protons + neutrons) est </a:t>
            </a:r>
            <a:r>
              <a:rPr lang="en-US" sz="1800" dirty="0" err="1">
                <a:ea typeface="+mj-lt"/>
                <a:cs typeface="+mj-lt"/>
              </a:rPr>
              <a:t>enfin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dirty="0" err="1">
                <a:ea typeface="+mj-lt"/>
                <a:cs typeface="+mj-lt"/>
              </a:rPr>
              <a:t>complet</a:t>
            </a:r>
            <a:r>
              <a:rPr lang="en-US" sz="1800" dirty="0">
                <a:ea typeface="+mj-lt"/>
                <a:cs typeface="+mj-lt"/>
              </a:rPr>
              <a:t>.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  <a:buFont typeface="Arial" charset="2"/>
              <a:buChar char="•"/>
            </a:pP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4A594-2B19-DF1E-ECC2-9FA318EAEE7F}"/>
              </a:ext>
            </a:extLst>
          </p:cNvPr>
          <p:cNvSpPr txBox="1"/>
          <p:nvPr/>
        </p:nvSpPr>
        <p:spPr>
          <a:xfrm>
            <a:off x="6119812" y="119062"/>
            <a:ext cx="43314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Modèle de </a:t>
            </a:r>
            <a:r>
              <a:rPr lang="en-US" dirty="0" err="1"/>
              <a:t>Scrödinger</a:t>
            </a:r>
            <a:r>
              <a:rPr lang="en-US" dirty="0"/>
              <a:t> &amp; Heisenberg</a:t>
            </a:r>
          </a:p>
        </p:txBody>
      </p:sp>
    </p:spTree>
    <p:extLst>
      <p:ext uri="{BB962C8B-B14F-4D97-AF65-F5344CB8AC3E}">
        <p14:creationId xmlns:p14="http://schemas.microsoft.com/office/powerpoint/2010/main" val="155748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A9978-5438-5C96-AF50-671FE79A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449FE-650F-C0F2-47B0-2C30C27B6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En </a:t>
            </a:r>
            <a:r>
              <a:rPr lang="en-US">
                <a:solidFill>
                  <a:srgbClr val="FFFFFF"/>
                </a:solidFill>
              </a:rPr>
              <a:t>bref</a:t>
            </a:r>
            <a:r>
              <a:rPr lang="en-US" dirty="0">
                <a:solidFill>
                  <a:srgbClr val="FFFFFF"/>
                </a:solidFill>
              </a:rPr>
              <a:t>, if </a:t>
            </a:r>
            <a:r>
              <a:rPr lang="en-US">
                <a:solidFill>
                  <a:srgbClr val="FFFFFF"/>
                </a:solidFill>
              </a:rPr>
              <a:t>existe</a:t>
            </a:r>
            <a:r>
              <a:rPr lang="en-US" dirty="0">
                <a:solidFill>
                  <a:srgbClr val="FFFFFF"/>
                </a:solidFill>
              </a:rPr>
              <a:t> deux </a:t>
            </a:r>
            <a:r>
              <a:rPr lang="en-US">
                <a:solidFill>
                  <a:srgbClr val="FFFFFF"/>
                </a:solidFill>
              </a:rPr>
              <a:t>modèles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>
                <a:solidFill>
                  <a:srgbClr val="FFFFFF"/>
                </a:solidFill>
              </a:rPr>
              <a:t>l'atome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pPr>
              <a:buFont typeface="Arial" charset="2"/>
              <a:buChar char="•"/>
            </a:pPr>
            <a:r>
              <a:rPr lang="en-US">
                <a:solidFill>
                  <a:srgbClr val="FFFFFF"/>
                </a:solidFill>
              </a:rPr>
              <a:t>Modèle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>
                <a:solidFill>
                  <a:srgbClr val="FFFFFF"/>
                </a:solidFill>
              </a:rPr>
              <a:t>planétaire</a:t>
            </a:r>
            <a:r>
              <a:rPr lang="en-US" dirty="0">
                <a:solidFill>
                  <a:srgbClr val="FFFFFF"/>
                </a:solidFill>
              </a:rPr>
              <a:t>: </a:t>
            </a:r>
            <a:r>
              <a:rPr lang="en-US">
                <a:solidFill>
                  <a:srgbClr val="FFFFFF"/>
                </a:solidFill>
              </a:rPr>
              <a:t>Les électrons gravitent autour du noyau qui est 100 000 fois plus petit que l'atome elle-même</a:t>
            </a:r>
          </a:p>
          <a:p>
            <a:pPr>
              <a:buClr>
                <a:srgbClr val="F7F7F7"/>
              </a:buClr>
              <a:buFont typeface="Arial" charset="2"/>
              <a:buChar char="•"/>
            </a:pPr>
            <a:endParaRPr lang="en-US" dirty="0">
              <a:solidFill>
                <a:srgbClr val="FFFFFF"/>
              </a:solidFill>
            </a:endParaRPr>
          </a:p>
          <a:p>
            <a:pPr>
              <a:buClr>
                <a:srgbClr val="F7F7F7"/>
              </a:buClr>
              <a:buFont typeface="Arial" charset="2"/>
              <a:buChar char="•"/>
            </a:pPr>
            <a:endParaRPr lang="en-US" dirty="0">
              <a:solidFill>
                <a:srgbClr val="FFFFFF"/>
              </a:solidFill>
            </a:endParaRPr>
          </a:p>
          <a:p>
            <a:pPr>
              <a:buClr>
                <a:srgbClr val="F7F7F7"/>
              </a:buClr>
              <a:buFont typeface="Arial" charset="2"/>
              <a:buChar char="•"/>
            </a:pPr>
            <a:r>
              <a:rPr lang="en-US">
                <a:solidFill>
                  <a:srgbClr val="FFFFFF"/>
                </a:solidFill>
              </a:rPr>
              <a:t>Modèle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>
                <a:solidFill>
                  <a:srgbClr val="FFFFFF"/>
                </a:solidFill>
              </a:rPr>
              <a:t>actuel</a:t>
            </a:r>
            <a:r>
              <a:rPr lang="en-US" dirty="0">
                <a:solidFill>
                  <a:srgbClr val="FFFFFF"/>
                </a:solidFill>
              </a:rPr>
              <a:t> "le </a:t>
            </a:r>
            <a:r>
              <a:rPr lang="en-US">
                <a:solidFill>
                  <a:srgbClr val="FFFFFF"/>
                </a:solidFill>
              </a:rPr>
              <a:t>vrai</a:t>
            </a:r>
            <a:r>
              <a:rPr lang="en-US" dirty="0">
                <a:solidFill>
                  <a:srgbClr val="FFFFFF"/>
                </a:solidFill>
              </a:rPr>
              <a:t> </a:t>
            </a:r>
            <a:r>
              <a:rPr lang="en-US">
                <a:solidFill>
                  <a:srgbClr val="FFFFFF"/>
                </a:solidFill>
              </a:rPr>
              <a:t>modèle</a:t>
            </a:r>
            <a:r>
              <a:rPr lang="en-US" dirty="0">
                <a:solidFill>
                  <a:srgbClr val="FFFFFF"/>
                </a:solidFill>
              </a:rPr>
              <a:t>": </a:t>
            </a:r>
            <a:r>
              <a:rPr lang="en-US">
                <a:solidFill>
                  <a:srgbClr val="FFFFFF"/>
                </a:solidFill>
              </a:rPr>
              <a:t>Les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>
                <a:solidFill>
                  <a:srgbClr val="FFFFFF"/>
                </a:solidFill>
              </a:rPr>
              <a:t>électrons n'ont pas d'orbite spécifique autour du noyau, on parle des zone de probabilité faible et élevée</a:t>
            </a:r>
          </a:p>
          <a:p>
            <a:pPr marL="0" indent="0">
              <a:buClr>
                <a:srgbClr val="8AD0D6"/>
              </a:buClr>
              <a:buNone/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5" name="Picture 4" descr="&#10;">
            <a:extLst>
              <a:ext uri="{FF2B5EF4-FFF2-40B4-BE49-F238E27FC236}">
                <a16:creationId xmlns:a16="http://schemas.microsoft.com/office/drawing/2014/main" id="{B169D145-77C5-3C6A-C2E8-32DAAB455B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37" r="5" b="15429"/>
          <a:stretch>
            <a:fillRect/>
          </a:stretch>
        </p:blipFill>
        <p:spPr>
          <a:xfrm>
            <a:off x="7230352" y="2"/>
            <a:ext cx="4962068" cy="3428999"/>
          </a:xfrm>
          <a:custGeom>
            <a:avLst/>
            <a:gdLst/>
            <a:ahLst/>
            <a:cxnLst/>
            <a:rect l="l" t="t" r="r" b="b"/>
            <a:pathLst>
              <a:path w="4962068" h="3428999">
                <a:moveTo>
                  <a:pt x="0" y="0"/>
                </a:moveTo>
                <a:lnTo>
                  <a:pt x="1343538" y="0"/>
                </a:lnTo>
                <a:lnTo>
                  <a:pt x="1343538" y="1"/>
                </a:lnTo>
                <a:lnTo>
                  <a:pt x="4962068" y="1"/>
                </a:lnTo>
                <a:lnTo>
                  <a:pt x="4962067" y="3428999"/>
                </a:lnTo>
                <a:lnTo>
                  <a:pt x="250957" y="3428999"/>
                </a:lnTo>
                <a:lnTo>
                  <a:pt x="250957" y="3343961"/>
                </a:lnTo>
                <a:lnTo>
                  <a:pt x="251965" y="3201315"/>
                </a:lnTo>
                <a:lnTo>
                  <a:pt x="250957" y="3057297"/>
                </a:lnTo>
                <a:lnTo>
                  <a:pt x="248940" y="2911221"/>
                </a:lnTo>
                <a:lnTo>
                  <a:pt x="247091" y="2765146"/>
                </a:lnTo>
                <a:lnTo>
                  <a:pt x="243057" y="2617013"/>
                </a:lnTo>
                <a:lnTo>
                  <a:pt x="238855" y="2467509"/>
                </a:lnTo>
                <a:lnTo>
                  <a:pt x="233980" y="2318004"/>
                </a:lnTo>
                <a:lnTo>
                  <a:pt x="227089" y="2167128"/>
                </a:lnTo>
                <a:lnTo>
                  <a:pt x="218852" y="2014881"/>
                </a:lnTo>
                <a:lnTo>
                  <a:pt x="210952" y="1861947"/>
                </a:lnTo>
                <a:lnTo>
                  <a:pt x="200867" y="1709014"/>
                </a:lnTo>
                <a:lnTo>
                  <a:pt x="188764" y="1554023"/>
                </a:lnTo>
                <a:lnTo>
                  <a:pt x="176662" y="1401090"/>
                </a:lnTo>
                <a:lnTo>
                  <a:pt x="162710" y="1245413"/>
                </a:lnTo>
                <a:lnTo>
                  <a:pt x="147414" y="1089051"/>
                </a:lnTo>
                <a:lnTo>
                  <a:pt x="131278" y="934746"/>
                </a:lnTo>
                <a:lnTo>
                  <a:pt x="112452" y="778383"/>
                </a:lnTo>
                <a:lnTo>
                  <a:pt x="92281" y="622707"/>
                </a:lnTo>
                <a:lnTo>
                  <a:pt x="72278" y="466344"/>
                </a:lnTo>
                <a:lnTo>
                  <a:pt x="48914" y="310668"/>
                </a:lnTo>
                <a:lnTo>
                  <a:pt x="25045" y="155677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34EEAD-34B7-E961-58F1-34FF62DE43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49" r="-1" b="-1"/>
          <a:stretch>
            <a:fillRect/>
          </a:stretch>
        </p:blipFill>
        <p:spPr>
          <a:xfrm>
            <a:off x="7228756" y="3428997"/>
            <a:ext cx="4963244" cy="3429002"/>
          </a:xfrm>
          <a:custGeom>
            <a:avLst/>
            <a:gdLst/>
            <a:ahLst/>
            <a:cxnLst/>
            <a:rect l="l" t="t" r="r" b="b"/>
            <a:pathLst>
              <a:path w="4963244" h="3429002">
                <a:moveTo>
                  <a:pt x="252134" y="0"/>
                </a:moveTo>
                <a:lnTo>
                  <a:pt x="4963244" y="0"/>
                </a:lnTo>
                <a:lnTo>
                  <a:pt x="4963244" y="3429002"/>
                </a:lnTo>
                <a:lnTo>
                  <a:pt x="900697" y="3429002"/>
                </a:lnTo>
                <a:lnTo>
                  <a:pt x="900697" y="3429001"/>
                </a:lnTo>
                <a:lnTo>
                  <a:pt x="0" y="3429001"/>
                </a:lnTo>
                <a:lnTo>
                  <a:pt x="5883" y="3388539"/>
                </a:lnTo>
                <a:lnTo>
                  <a:pt x="23196" y="3269895"/>
                </a:lnTo>
                <a:lnTo>
                  <a:pt x="35299" y="3183484"/>
                </a:lnTo>
                <a:lnTo>
                  <a:pt x="48073" y="3080614"/>
                </a:lnTo>
                <a:lnTo>
                  <a:pt x="63369" y="2958542"/>
                </a:lnTo>
                <a:lnTo>
                  <a:pt x="79506" y="2823439"/>
                </a:lnTo>
                <a:lnTo>
                  <a:pt x="96483" y="2671192"/>
                </a:lnTo>
                <a:lnTo>
                  <a:pt x="114469" y="2505228"/>
                </a:lnTo>
                <a:lnTo>
                  <a:pt x="132454" y="2324863"/>
                </a:lnTo>
                <a:lnTo>
                  <a:pt x="150776" y="2132839"/>
                </a:lnTo>
                <a:lnTo>
                  <a:pt x="167753" y="1925727"/>
                </a:lnTo>
                <a:lnTo>
                  <a:pt x="184058" y="1709014"/>
                </a:lnTo>
                <a:lnTo>
                  <a:pt x="198849" y="1479957"/>
                </a:lnTo>
                <a:lnTo>
                  <a:pt x="212969" y="1241299"/>
                </a:lnTo>
                <a:lnTo>
                  <a:pt x="226248" y="992353"/>
                </a:lnTo>
                <a:lnTo>
                  <a:pt x="230955" y="864794"/>
                </a:lnTo>
                <a:lnTo>
                  <a:pt x="236165" y="734493"/>
                </a:lnTo>
                <a:lnTo>
                  <a:pt x="241040" y="602134"/>
                </a:lnTo>
                <a:lnTo>
                  <a:pt x="244234" y="469088"/>
                </a:lnTo>
                <a:lnTo>
                  <a:pt x="247091" y="333300"/>
                </a:lnTo>
                <a:lnTo>
                  <a:pt x="250117" y="196140"/>
                </a:lnTo>
                <a:lnTo>
                  <a:pt x="252134" y="562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51788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CFC34-DDC9-FAAD-F723-B8DC6966B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US" sz="3900">
                <a:solidFill>
                  <a:srgbClr val="EBEBEB"/>
                </a:solidFill>
              </a:rPr>
              <a:t>Les constituants de l'atome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Content Placeholder 3" descr="A diagram of a atom&#10;&#10;AI-generated content may be incorrect.">
            <a:extLst>
              <a:ext uri="{FF2B5EF4-FFF2-40B4-BE49-F238E27FC236}">
                <a16:creationId xmlns:a16="http://schemas.microsoft.com/office/drawing/2014/main" id="{6261A271-6F26-0EC5-28DC-B88823C48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92" y="704054"/>
            <a:ext cx="5449889" cy="5449889"/>
          </a:xfrm>
          <a:prstGeom prst="rect">
            <a:avLst/>
          </a:prstGeom>
          <a:effectLst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7855A9-48D9-320C-E5D0-949B19287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>
                <a:solidFill>
                  <a:srgbClr val="EBEBEB"/>
                </a:solidFill>
              </a:rPr>
              <a:t>Les constituants de l'atome qu'on va étudier cette année sont vraiment simples:</a:t>
            </a:r>
          </a:p>
          <a:p>
            <a:pPr marL="0" indent="0">
              <a:lnSpc>
                <a:spcPct val="90000"/>
              </a:lnSpc>
              <a:buNone/>
            </a:pPr>
            <a:endParaRPr lang="en-US">
              <a:solidFill>
                <a:srgbClr val="EBEBEB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solidFill>
                  <a:srgbClr val="EBEBEB"/>
                </a:solidFill>
              </a:rPr>
              <a:t>1-  Le noyau, constitué de </a:t>
            </a:r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en-US">
                <a:solidFill>
                  <a:srgbClr val="EBEBEB"/>
                </a:solidFill>
              </a:rPr>
              <a:t>Neutrons 'contenant chacune une charge neutre'</a:t>
            </a:r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en-US">
                <a:solidFill>
                  <a:srgbClr val="EBEBEB"/>
                </a:solidFill>
              </a:rPr>
              <a:t>Protons 'contenant chacune une charge positive'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solidFill>
                  <a:srgbClr val="EBEBEB"/>
                </a:solidFill>
              </a:rPr>
              <a:t>2-  Et les électrons 'contenant chacune une charge négative'</a:t>
            </a:r>
          </a:p>
        </p:txBody>
      </p:sp>
    </p:spTree>
    <p:extLst>
      <p:ext uri="{BB962C8B-B14F-4D97-AF65-F5344CB8AC3E}">
        <p14:creationId xmlns:p14="http://schemas.microsoft.com/office/powerpoint/2010/main" val="1653970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C016-FA12-3AC7-F1E6-FB130224F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ECD7-B831-01A2-48E9-DE6EAA060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Font typeface="Arial" charset="2"/>
              <a:buChar char="•"/>
            </a:pPr>
            <a:r>
              <a:rPr lang="en-US" dirty="0" err="1">
                <a:ea typeface="+mj-lt"/>
                <a:cs typeface="+mj-lt"/>
              </a:rPr>
              <a:t>L'histoire</a:t>
            </a:r>
            <a:r>
              <a:rPr lang="en-US" dirty="0">
                <a:ea typeface="+mj-lt"/>
                <a:cs typeface="+mj-lt"/>
              </a:rPr>
              <a:t> de </a:t>
            </a:r>
            <a:r>
              <a:rPr lang="en-US" dirty="0" err="1">
                <a:ea typeface="+mj-lt"/>
                <a:cs typeface="+mj-lt"/>
              </a:rPr>
              <a:t>l'atome</a:t>
            </a:r>
            <a:r>
              <a:rPr lang="en-US" dirty="0">
                <a:ea typeface="+mj-lt"/>
                <a:cs typeface="+mj-lt"/>
              </a:rPr>
              <a:t> est le parfait </a:t>
            </a:r>
            <a:r>
              <a:rPr lang="en-US" dirty="0" err="1">
                <a:ea typeface="+mj-lt"/>
                <a:cs typeface="+mj-lt"/>
              </a:rPr>
              <a:t>exemple</a:t>
            </a:r>
            <a:r>
              <a:rPr lang="en-US" dirty="0">
                <a:ea typeface="+mj-lt"/>
                <a:cs typeface="+mj-lt"/>
              </a:rPr>
              <a:t> de </a:t>
            </a:r>
            <a:r>
              <a:rPr lang="en-US" dirty="0" err="1">
                <a:ea typeface="+mj-lt"/>
                <a:cs typeface="+mj-lt"/>
              </a:rPr>
              <a:t>l'évolution</a:t>
            </a:r>
            <a:r>
              <a:rPr lang="en-US" dirty="0">
                <a:ea typeface="+mj-lt"/>
                <a:cs typeface="+mj-lt"/>
              </a:rPr>
              <a:t> de la science : </a:t>
            </a:r>
            <a:r>
              <a:rPr lang="en-US" dirty="0" err="1">
                <a:ea typeface="+mj-lt"/>
                <a:cs typeface="+mj-lt"/>
              </a:rPr>
              <a:t>d'une</a:t>
            </a:r>
            <a:r>
              <a:rPr lang="en-US" dirty="0">
                <a:ea typeface="+mj-lt"/>
                <a:cs typeface="+mj-lt"/>
              </a:rPr>
              <a:t> simple idée philosophique dans </a:t>
            </a:r>
            <a:r>
              <a:rPr lang="en-US" dirty="0" err="1">
                <a:ea typeface="+mj-lt"/>
                <a:cs typeface="+mj-lt"/>
              </a:rPr>
              <a:t>l'Antiquité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l'atome</a:t>
            </a:r>
            <a:r>
              <a:rPr lang="en-US" dirty="0">
                <a:ea typeface="+mj-lt"/>
                <a:cs typeface="+mj-lt"/>
              </a:rPr>
              <a:t> est </a:t>
            </a:r>
            <a:r>
              <a:rPr lang="en-US" dirty="0" err="1">
                <a:ea typeface="+mj-lt"/>
                <a:cs typeface="+mj-lt"/>
              </a:rPr>
              <a:t>devenu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une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réalité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scientifique</a:t>
            </a:r>
            <a:r>
              <a:rPr lang="en-US" dirty="0">
                <a:ea typeface="+mj-lt"/>
                <a:cs typeface="+mj-lt"/>
              </a:rPr>
              <a:t> grâce à des </a:t>
            </a:r>
            <a:r>
              <a:rPr lang="en-US" dirty="0" err="1">
                <a:ea typeface="+mj-lt"/>
                <a:cs typeface="+mj-lt"/>
              </a:rPr>
              <a:t>expériences</a:t>
            </a:r>
            <a:r>
              <a:rPr lang="en-US" dirty="0">
                <a:ea typeface="+mj-lt"/>
                <a:cs typeface="+mj-lt"/>
              </a:rPr>
              <a:t> de plus </a:t>
            </a:r>
            <a:r>
              <a:rPr lang="en-US" dirty="0" err="1">
                <a:ea typeface="+mj-lt"/>
                <a:cs typeface="+mj-lt"/>
              </a:rPr>
              <a:t>en</a:t>
            </a:r>
            <a:r>
              <a:rPr lang="en-US" dirty="0">
                <a:ea typeface="+mj-lt"/>
                <a:cs typeface="+mj-lt"/>
              </a:rPr>
              <a:t> plus précises.</a:t>
            </a:r>
            <a:endParaRPr lang="en-US" dirty="0"/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dirty="0">
                <a:ea typeface="+mj-lt"/>
                <a:cs typeface="+mj-lt"/>
              </a:rPr>
              <a:t>La </a:t>
            </a:r>
            <a:r>
              <a:rPr lang="en-US" dirty="0" err="1">
                <a:ea typeface="+mj-lt"/>
                <a:cs typeface="+mj-lt"/>
              </a:rPr>
              <a:t>découverte</a:t>
            </a:r>
            <a:r>
              <a:rPr lang="en-US" dirty="0">
                <a:ea typeface="+mj-lt"/>
                <a:cs typeface="+mj-lt"/>
              </a:rPr>
              <a:t> progressive de </a:t>
            </a:r>
            <a:r>
              <a:rPr lang="en-US" dirty="0" err="1">
                <a:ea typeface="+mj-lt"/>
                <a:cs typeface="+mj-lt"/>
              </a:rPr>
              <a:t>ses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composants</a:t>
            </a:r>
            <a:r>
              <a:rPr lang="en-US" dirty="0">
                <a:ea typeface="+mj-lt"/>
                <a:cs typeface="+mj-lt"/>
              </a:rPr>
              <a:t> — </a:t>
            </a:r>
            <a:r>
              <a:rPr lang="en-US" dirty="0" err="1">
                <a:ea typeface="+mj-lt"/>
                <a:cs typeface="+mj-lt"/>
              </a:rPr>
              <a:t>d'abord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l'électron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puis</a:t>
            </a:r>
            <a:r>
              <a:rPr lang="en-US" dirty="0">
                <a:ea typeface="+mj-lt"/>
                <a:cs typeface="+mj-lt"/>
              </a:rPr>
              <a:t> le noyau avec </a:t>
            </a:r>
            <a:r>
              <a:rPr lang="en-US" dirty="0" err="1">
                <a:ea typeface="+mj-lt"/>
                <a:cs typeface="+mj-lt"/>
              </a:rPr>
              <a:t>ses</a:t>
            </a:r>
            <a:r>
              <a:rPr lang="en-US" dirty="0">
                <a:ea typeface="+mj-lt"/>
                <a:cs typeface="+mj-lt"/>
              </a:rPr>
              <a:t> protons et </a:t>
            </a:r>
            <a:r>
              <a:rPr lang="en-US" dirty="0" err="1">
                <a:ea typeface="+mj-lt"/>
                <a:cs typeface="+mj-lt"/>
              </a:rPr>
              <a:t>ses</a:t>
            </a:r>
            <a:r>
              <a:rPr lang="en-US" dirty="0">
                <a:ea typeface="+mj-lt"/>
                <a:cs typeface="+mj-lt"/>
              </a:rPr>
              <a:t> neutrons — a </a:t>
            </a:r>
            <a:r>
              <a:rPr lang="en-US" dirty="0" err="1">
                <a:ea typeface="+mj-lt"/>
                <a:cs typeface="+mj-lt"/>
              </a:rPr>
              <a:t>révélé</a:t>
            </a:r>
            <a:r>
              <a:rPr lang="en-US" dirty="0">
                <a:ea typeface="+mj-lt"/>
                <a:cs typeface="+mj-lt"/>
              </a:rPr>
              <a:t> deux </a:t>
            </a:r>
            <a:r>
              <a:rPr lang="en-US" dirty="0" err="1">
                <a:ea typeface="+mj-lt"/>
                <a:cs typeface="+mj-lt"/>
              </a:rPr>
              <a:t>propriétés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fondamentales</a:t>
            </a:r>
            <a:r>
              <a:rPr lang="en-US" dirty="0">
                <a:ea typeface="+mj-lt"/>
                <a:cs typeface="+mj-lt"/>
              </a:rPr>
              <a:t> :</a:t>
            </a:r>
          </a:p>
          <a:p>
            <a:pPr>
              <a:buFont typeface="Arial" charset="2"/>
              <a:buChar char="•"/>
            </a:pPr>
            <a:r>
              <a:rPr lang="en-US" b="1" dirty="0">
                <a:ea typeface="+mj-lt"/>
                <a:cs typeface="+mj-lt"/>
              </a:rPr>
              <a:t>La structure </a:t>
            </a:r>
            <a:r>
              <a:rPr lang="en-US" b="1" dirty="0" err="1">
                <a:ea typeface="+mj-lt"/>
                <a:cs typeface="+mj-lt"/>
              </a:rPr>
              <a:t>lacunaire</a:t>
            </a:r>
            <a:r>
              <a:rPr lang="en-US" b="1" dirty="0">
                <a:ea typeface="+mj-lt"/>
                <a:cs typeface="+mj-lt"/>
              </a:rPr>
              <a:t> de la matière</a:t>
            </a:r>
            <a:r>
              <a:rPr lang="en-US" dirty="0">
                <a:ea typeface="+mj-lt"/>
                <a:cs typeface="+mj-lt"/>
              </a:rPr>
              <a:t> : </a:t>
            </a:r>
            <a:r>
              <a:rPr lang="en-US" dirty="0" err="1">
                <a:ea typeface="+mj-lt"/>
                <a:cs typeface="+mj-lt"/>
              </a:rPr>
              <a:t>L'atome</a:t>
            </a:r>
            <a:r>
              <a:rPr lang="en-US" dirty="0">
                <a:ea typeface="+mj-lt"/>
                <a:cs typeface="+mj-lt"/>
              </a:rPr>
              <a:t> est </a:t>
            </a:r>
            <a:r>
              <a:rPr lang="en-US" dirty="0" err="1">
                <a:ea typeface="+mj-lt"/>
                <a:cs typeface="+mj-lt"/>
              </a:rPr>
              <a:t>constitué</a:t>
            </a:r>
            <a:r>
              <a:rPr lang="en-US" dirty="0">
                <a:ea typeface="+mj-lt"/>
                <a:cs typeface="+mj-lt"/>
              </a:rPr>
              <a:t> quasi </a:t>
            </a:r>
            <a:r>
              <a:rPr lang="en-US" dirty="0" err="1">
                <a:ea typeface="+mj-lt"/>
                <a:cs typeface="+mj-lt"/>
              </a:rPr>
              <a:t>exclusivement</a:t>
            </a:r>
            <a:r>
              <a:rPr lang="en-US" dirty="0">
                <a:ea typeface="+mj-lt"/>
                <a:cs typeface="+mj-lt"/>
              </a:rPr>
              <a:t> de vide, le noyau </a:t>
            </a:r>
            <a:r>
              <a:rPr lang="en-US" dirty="0" err="1">
                <a:ea typeface="+mj-lt"/>
                <a:cs typeface="+mj-lt"/>
              </a:rPr>
              <a:t>étant</a:t>
            </a:r>
            <a:r>
              <a:rPr lang="en-US" dirty="0">
                <a:ea typeface="+mj-lt"/>
                <a:cs typeface="+mj-lt"/>
              </a:rPr>
              <a:t> environ 100 000 </a:t>
            </a:r>
            <a:r>
              <a:rPr lang="en-US" dirty="0" err="1">
                <a:ea typeface="+mj-lt"/>
                <a:cs typeface="+mj-lt"/>
              </a:rPr>
              <a:t>fois</a:t>
            </a:r>
            <a:r>
              <a:rPr lang="en-US" dirty="0">
                <a:ea typeface="+mj-lt"/>
                <a:cs typeface="+mj-lt"/>
              </a:rPr>
              <a:t> plus petit </a:t>
            </a:r>
            <a:r>
              <a:rPr lang="en-US" dirty="0" err="1">
                <a:ea typeface="+mj-lt"/>
                <a:cs typeface="+mj-lt"/>
              </a:rPr>
              <a:t>que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l'atome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lui-même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>
              <a:buFont typeface="Arial" charset="2"/>
              <a:buChar char="•"/>
            </a:pPr>
            <a:r>
              <a:rPr lang="en-US" b="1" dirty="0">
                <a:ea typeface="+mj-lt"/>
                <a:cs typeface="+mj-lt"/>
              </a:rPr>
              <a:t>La </a:t>
            </a:r>
            <a:r>
              <a:rPr lang="en-US" b="1" dirty="0" err="1">
                <a:ea typeface="+mj-lt"/>
                <a:cs typeface="+mj-lt"/>
              </a:rPr>
              <a:t>neutralité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électrique</a:t>
            </a:r>
            <a:r>
              <a:rPr lang="en-US" dirty="0">
                <a:ea typeface="+mj-lt"/>
                <a:cs typeface="+mj-lt"/>
              </a:rPr>
              <a:t> : Dans un </a:t>
            </a:r>
            <a:r>
              <a:rPr lang="en-US" dirty="0" err="1">
                <a:ea typeface="+mj-lt"/>
                <a:cs typeface="+mj-lt"/>
              </a:rPr>
              <a:t>atome</a:t>
            </a:r>
            <a:r>
              <a:rPr lang="en-US" dirty="0">
                <a:ea typeface="+mj-lt"/>
                <a:cs typeface="+mj-lt"/>
              </a:rPr>
              <a:t>, la charge positive </a:t>
            </a:r>
            <a:r>
              <a:rPr lang="en-US" dirty="0" err="1">
                <a:ea typeface="+mj-lt"/>
                <a:cs typeface="+mj-lt"/>
              </a:rPr>
              <a:t>globale</a:t>
            </a:r>
            <a:r>
              <a:rPr lang="en-US" dirty="0">
                <a:ea typeface="+mj-lt"/>
                <a:cs typeface="+mj-lt"/>
              </a:rPr>
              <a:t> du noyau </a:t>
            </a:r>
            <a:r>
              <a:rPr lang="en-US" dirty="0" err="1">
                <a:ea typeface="+mj-lt"/>
                <a:cs typeface="+mj-lt"/>
              </a:rPr>
              <a:t>équilibre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exactement</a:t>
            </a:r>
            <a:r>
              <a:rPr lang="en-US" dirty="0">
                <a:ea typeface="+mj-lt"/>
                <a:cs typeface="+mj-lt"/>
              </a:rPr>
              <a:t> la charge </a:t>
            </a:r>
            <a:r>
              <a:rPr lang="en-US" dirty="0" err="1">
                <a:ea typeface="+mj-lt"/>
                <a:cs typeface="+mj-lt"/>
              </a:rPr>
              <a:t>négative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totale</a:t>
            </a:r>
            <a:r>
              <a:rPr lang="en-US" dirty="0">
                <a:ea typeface="+mj-lt"/>
                <a:cs typeface="+mj-lt"/>
              </a:rPr>
              <a:t> des </a:t>
            </a:r>
            <a:r>
              <a:rPr lang="en-US" dirty="0" err="1">
                <a:ea typeface="+mj-lt"/>
                <a:cs typeface="+mj-lt"/>
              </a:rPr>
              <a:t>électrons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 dirty="0"/>
          </a:p>
          <a:p>
            <a:pPr>
              <a:buFont typeface="Arial" charset="2"/>
              <a:buChar char="•"/>
            </a:pPr>
            <a:r>
              <a:rPr lang="en-US" dirty="0" err="1">
                <a:ea typeface="+mj-lt"/>
                <a:cs typeface="+mj-lt"/>
              </a:rPr>
              <a:t>Aujourd'hui</a:t>
            </a:r>
            <a:r>
              <a:rPr lang="en-US" dirty="0">
                <a:ea typeface="+mj-lt"/>
                <a:cs typeface="+mj-lt"/>
              </a:rPr>
              <a:t>, le </a:t>
            </a:r>
            <a:r>
              <a:rPr lang="en-US" dirty="0" err="1">
                <a:ea typeface="+mj-lt"/>
                <a:cs typeface="+mj-lt"/>
              </a:rPr>
              <a:t>modèle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probabiliste</a:t>
            </a:r>
            <a:r>
              <a:rPr lang="en-US" dirty="0">
                <a:ea typeface="+mj-lt"/>
                <a:cs typeface="+mj-lt"/>
              </a:rPr>
              <a:t> de la </a:t>
            </a:r>
            <a:r>
              <a:rPr lang="en-US" dirty="0" err="1">
                <a:ea typeface="+mj-lt"/>
                <a:cs typeface="+mj-lt"/>
              </a:rPr>
              <a:t>mécanique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quantique</a:t>
            </a:r>
            <a:r>
              <a:rPr lang="en-US" dirty="0">
                <a:ea typeface="+mj-lt"/>
                <a:cs typeface="+mj-lt"/>
              </a:rPr>
              <a:t> continue </a:t>
            </a:r>
            <a:r>
              <a:rPr lang="en-US" dirty="0" err="1">
                <a:ea typeface="+mj-lt"/>
                <a:cs typeface="+mj-lt"/>
              </a:rPr>
              <a:t>d'évoluer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mais</a:t>
            </a:r>
            <a:r>
              <a:rPr lang="en-US" dirty="0">
                <a:ea typeface="+mj-lt"/>
                <a:cs typeface="+mj-lt"/>
              </a:rPr>
              <a:t> la </a:t>
            </a:r>
            <a:r>
              <a:rPr lang="en-US" dirty="0" err="1">
                <a:ea typeface="+mj-lt"/>
                <a:cs typeface="+mj-lt"/>
              </a:rPr>
              <a:t>compréhension</a:t>
            </a:r>
            <a:r>
              <a:rPr lang="en-US" dirty="0">
                <a:ea typeface="+mj-lt"/>
                <a:cs typeface="+mj-lt"/>
              </a:rPr>
              <a:t> de </a:t>
            </a:r>
            <a:r>
              <a:rPr lang="en-US" dirty="0" err="1">
                <a:ea typeface="+mj-lt"/>
                <a:cs typeface="+mj-lt"/>
              </a:rPr>
              <a:t>l'atome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reste</a:t>
            </a:r>
            <a:r>
              <a:rPr lang="en-US" dirty="0">
                <a:ea typeface="+mj-lt"/>
                <a:cs typeface="+mj-lt"/>
              </a:rPr>
              <a:t> le socle </a:t>
            </a:r>
            <a:r>
              <a:rPr lang="en-US" dirty="0" err="1">
                <a:ea typeface="+mj-lt"/>
                <a:cs typeface="+mj-lt"/>
              </a:rPr>
              <a:t>fondamental</a:t>
            </a:r>
            <a:r>
              <a:rPr lang="en-US" dirty="0">
                <a:ea typeface="+mj-lt"/>
                <a:cs typeface="+mj-lt"/>
              </a:rPr>
              <a:t> de toute la </a:t>
            </a:r>
            <a:r>
              <a:rPr lang="en-US" dirty="0" err="1">
                <a:ea typeface="+mj-lt"/>
                <a:cs typeface="+mj-lt"/>
              </a:rPr>
              <a:t>chimie</a:t>
            </a:r>
            <a:r>
              <a:rPr lang="en-US" dirty="0">
                <a:ea typeface="+mj-lt"/>
                <a:cs typeface="+mj-lt"/>
              </a:rPr>
              <a:t> et de la physique </a:t>
            </a:r>
            <a:r>
              <a:rPr lang="en-US" dirty="0" err="1">
                <a:ea typeface="+mj-lt"/>
                <a:cs typeface="+mj-lt"/>
              </a:rPr>
              <a:t>modernes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 dirty="0"/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477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Ion</vt:lpstr>
      <vt:lpstr>Les atomes et les ions</vt:lpstr>
      <vt:lpstr>1. L'intuition philosophique (Antiquité)</vt:lpstr>
      <vt:lpstr>PowerPoint Presentation</vt:lpstr>
      <vt:lpstr>3. L'atome est divisible : La découverte de l'électron (1897) </vt:lpstr>
      <vt:lpstr>PowerPoint Presentation</vt:lpstr>
      <vt:lpstr>PowerPoint Presentation</vt:lpstr>
      <vt:lpstr>PowerPoint Presentation</vt:lpstr>
      <vt:lpstr>Conclusion</vt:lpstr>
      <vt:lpstr>Les constituants de l'atome</vt:lpstr>
      <vt:lpstr>Conclusion Finale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419</cp:revision>
  <dcterms:created xsi:type="dcterms:W3CDTF">2026-09-29T20:12:30Z</dcterms:created>
  <dcterms:modified xsi:type="dcterms:W3CDTF">2026-09-29T22:16:56Z</dcterms:modified>
</cp:coreProperties>
</file>